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42" r:id="rId18"/>
    <p:sldId id="369" r:id="rId19"/>
    <p:sldId id="370" r:id="rId20"/>
    <p:sldId id="328" r:id="rId21"/>
    <p:sldId id="345" r:id="rId22"/>
    <p:sldId id="329" r:id="rId23"/>
    <p:sldId id="346" r:id="rId24"/>
    <p:sldId id="372" r:id="rId25"/>
    <p:sldId id="415" r:id="rId26"/>
    <p:sldId id="417" r:id="rId27"/>
    <p:sldId id="416" r:id="rId28"/>
    <p:sldId id="418" r:id="rId29"/>
    <p:sldId id="419" r:id="rId30"/>
    <p:sldId id="420" r:id="rId31"/>
    <p:sldId id="421" r:id="rId32"/>
    <p:sldId id="422" r:id="rId33"/>
    <p:sldId id="423" r:id="rId34"/>
    <p:sldId id="424" r:id="rId35"/>
    <p:sldId id="363" r:id="rId36"/>
    <p:sldId id="355" r:id="rId37"/>
    <p:sldId id="364" r:id="rId38"/>
    <p:sldId id="356" r:id="rId39"/>
    <p:sldId id="406" r:id="rId40"/>
    <p:sldId id="374" r:id="rId41"/>
    <p:sldId id="392" r:id="rId42"/>
    <p:sldId id="393" r:id="rId43"/>
    <p:sldId id="394" r:id="rId44"/>
    <p:sldId id="395" r:id="rId45"/>
    <p:sldId id="396" r:id="rId46"/>
    <p:sldId id="397" r:id="rId47"/>
    <p:sldId id="398" r:id="rId48"/>
    <p:sldId id="399" r:id="rId49"/>
    <p:sldId id="400" r:id="rId50"/>
    <p:sldId id="401" r:id="rId51"/>
    <p:sldId id="414" r:id="rId52"/>
    <p:sldId id="403" r:id="rId53"/>
    <p:sldId id="404" r:id="rId54"/>
    <p:sldId id="405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22"/>
    <a:srgbClr val="282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4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5E1F0-8524-4CC3-B49E-7E5035F2E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676A85-8FC4-4299-8FCF-D9BE67B44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06491-2BF5-414F-942D-ABA4E058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F1DD7-5E03-4DFF-AA0C-973795A5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1696A2-77D9-4745-BFA7-03AAFFC5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24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6529C-ABDC-4A01-8EFC-6AF39C93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5C68EC-D227-4FBC-B24F-E5039EC4F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EEBBDC-4E97-4163-A2F2-C4DE336C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BA4E7B-4B8E-4EBA-B3F0-4FF490D5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72C908-D7AA-4930-A373-41721492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91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1EE9E-55AF-4856-8923-AF7CE081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F76A36-0E49-47B0-A9D9-42F40B0FD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10E8C-DE55-4190-8187-42147346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86F87-BAEA-43BB-9251-E6D721B1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338B4-AB2E-49D4-88AC-A795703F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8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1C5E5-4F12-4351-897F-778298EB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F8DF4-E72A-47F8-94DA-184210A0F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51D95F-5171-4766-BEFC-C0920A1D2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61E526-ED22-4391-A07D-EE4F7195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9BEBA5-246B-42FE-B7E9-0C2A96D1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31D912-E1CD-4639-BC47-78BF95E1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04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E50A6-965D-49B8-A1CA-59EDDAEA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E5412D-63C5-4FB0-94FF-E94F7E96A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A228B9-5AB5-4A4D-8FFA-84BA4848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B36B46-4DC2-41F4-9299-620ABB219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747344-6932-4185-8E46-F0033C2A7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903DE3-C537-45D6-B2EA-ECD149C2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B1E261-6DB5-4F38-93EA-2604D2A93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A3E068-D038-4F36-AEF6-E4353D5F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03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E5AE1-C767-452B-BB36-70655596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D99332-E083-46E2-833F-A5582398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F16A12-FE4A-4C5A-9609-5DE24B71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C9244E-8F4D-414E-8774-2EF451F9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71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652262-A77C-4BA0-8E40-39F59C55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590390-89F5-47CE-8FA9-C6CE311C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AAED37-2CDB-4FF8-9587-863F5EBB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22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CBB66-2275-4EB8-98E9-8D007500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EDB8EA-EC9F-4D0A-89FB-B882FD5E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CD5BF6-F209-43FC-B353-4CF700636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B34D41-2A41-4D42-BBF4-ED4CEC15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B22434-F5D1-479B-B6B4-B4224C71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139913-F1B4-406B-999C-276BF9D9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26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F556E-CDE9-4053-BE0D-1C285183D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8AB41A-E195-4320-A09A-7DA86B777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AA1757-2684-4A1B-A51E-62F7C313E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117509-6DFA-4FC5-B348-62DF53C3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343EA2-C638-433F-B3F0-0D3F405FC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6EE0B3-A24B-47D3-9C8C-82D47F1D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70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E1665-B0D6-40FA-9506-AB9CE47E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486016-5673-4DE7-A0D4-B3DB406F7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263F2-231B-4BC7-B457-D60CFC7C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7B3E-77B0-4131-B91C-CCAD8030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AA5972-83A9-4686-9EA8-365734D2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07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67E591-C614-44CD-8268-2E66F1CA7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AC5073-061D-428A-87CB-63F20E3F2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D95EDF-B6AE-42FB-87A6-12A7F8CD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880058-EE82-4EB1-A5FF-29318314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A1A14-D1CD-42E1-AB55-8B0D4B01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073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6453336"/>
            <a:ext cx="1291175" cy="32727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675" y="6475455"/>
            <a:ext cx="1599456" cy="30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91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9564" y="0"/>
            <a:ext cx="10032437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831637" y="1268760"/>
            <a:ext cx="8750763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845429" y="1844827"/>
            <a:ext cx="8750763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675" y="6475455"/>
            <a:ext cx="1599456" cy="30515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6453336"/>
            <a:ext cx="1291175" cy="327276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11600101" y="6084004"/>
            <a:ext cx="486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68327C5-B821-4FE9-A59A-A60D9EB59A9A}" type="slidenum">
              <a:rPr lang="en-US" altLang="ko-KR" sz="1800" b="1" smtClean="0"/>
              <a:pPr/>
              <a:t>‹#›</a:t>
            </a:fld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02358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1AE28A-9AF5-4345-BAA8-F2627B1A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59A923-1702-45D5-8F97-46862974E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E0F446-B23E-4784-B1D1-7149B03C5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77313-44B8-4788-ADD9-24941C435ACD}" type="datetimeFigureOut">
              <a:rPr lang="ko-KR" altLang="en-US" smtClean="0"/>
              <a:t>2020-08-06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06E1F-5623-4BC1-AB0D-B7A002CD7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53DFE-EEA5-4C95-9ED9-B8C471B75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51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mjudge.postech.ac.kr/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1810749"/>
            <a:ext cx="121920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b="1" dirty="0">
                <a:solidFill>
                  <a:schemeClr val="accent1">
                    <a:lumMod val="75000"/>
                  </a:schemeClr>
                </a:solidFill>
              </a:rPr>
              <a:t>알고리즘 실습</a:t>
            </a:r>
            <a:endParaRPr lang="en-US" altLang="ko-KR" sz="5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altLang="ko-KR" sz="5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altLang="ko-KR" sz="5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altLang="ko-KR" sz="4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altLang="ko-KR" sz="4000" b="1" dirty="0" err="1" smtClean="0">
                <a:solidFill>
                  <a:schemeClr val="accent1">
                    <a:lumMod val="75000"/>
                  </a:schemeClr>
                </a:solidFill>
              </a:rPr>
              <a:t>DomJudge</a:t>
            </a:r>
            <a:r>
              <a:rPr lang="en-US" altLang="ko-KR" sz="40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ko-KR" altLang="en-US" sz="4000" b="1" dirty="0" err="1" smtClean="0">
                <a:solidFill>
                  <a:schemeClr val="accent1">
                    <a:lumMod val="75000"/>
                  </a:schemeClr>
                </a:solidFill>
              </a:rPr>
              <a:t>튜토리얼</a:t>
            </a:r>
            <a:r>
              <a:rPr lang="ko-KR" altLang="en-US" sz="4000" b="1" dirty="0" smtClean="0">
                <a:solidFill>
                  <a:schemeClr val="accent1">
                    <a:lumMod val="75000"/>
                  </a:schemeClr>
                </a:solidFill>
              </a:rPr>
              <a:t> 및 자료구조 실습</a:t>
            </a:r>
            <a:endParaRPr lang="ko-KR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179807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smtClean="0">
                <a:solidFill>
                  <a:schemeClr val="accent1">
                    <a:lumMod val="50000"/>
                  </a:schemeClr>
                </a:solidFill>
              </a:rPr>
              <a:t>대경 </a:t>
            </a:r>
            <a:r>
              <a:rPr lang="en-US" altLang="ko-KR" sz="3500" b="1" dirty="0" err="1" smtClean="0">
                <a:solidFill>
                  <a:schemeClr val="accent1">
                    <a:lumMod val="50000"/>
                  </a:schemeClr>
                </a:solidFill>
              </a:rPr>
              <a:t>HuStar</a:t>
            </a:r>
            <a:r>
              <a:rPr lang="ko-KR" altLang="en-US" sz="3500" b="1" dirty="0" smtClean="0">
                <a:solidFill>
                  <a:schemeClr val="accent1">
                    <a:lumMod val="50000"/>
                  </a:schemeClr>
                </a:solidFill>
              </a:rPr>
              <a:t>아카데미</a:t>
            </a:r>
            <a:endParaRPr lang="ko-KR" altLang="en-US" sz="35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73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40863" y="285000"/>
            <a:ext cx="860755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알고리즘 실습의 목표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04703" y="1369938"/>
            <a:ext cx="917129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/>
              <a:t>알고리즘</a:t>
            </a:r>
            <a:r>
              <a:rPr lang="en-US" altLang="ko-KR" b="1" dirty="0"/>
              <a:t>: </a:t>
            </a:r>
            <a:r>
              <a:rPr lang="ko-KR" altLang="en-US" b="1" dirty="0"/>
              <a:t>주어진 문제를 푸는 방법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알고리즘은 왜 중요한가요</a:t>
            </a:r>
            <a:r>
              <a:rPr lang="en-US" altLang="ko-KR" dirty="0"/>
              <a:t>? (Feat. </a:t>
            </a:r>
            <a:r>
              <a:rPr lang="ko-KR" altLang="en-US" dirty="0"/>
              <a:t>수학은 왜 중요한가요</a:t>
            </a:r>
            <a:r>
              <a:rPr lang="en-US" altLang="ko-KR" dirty="0"/>
              <a:t>?)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컴퓨터 학문의 기초이자</a:t>
            </a:r>
            <a:r>
              <a:rPr lang="en-US" altLang="ko-KR" dirty="0"/>
              <a:t>, </a:t>
            </a:r>
            <a:r>
              <a:rPr lang="ko-KR" altLang="en-US" dirty="0"/>
              <a:t>컴퓨터처럼 접근하는 사고능력과 논리를 기를 수 있습니다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알고리즘 실습의 중점적인 목표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이론에서 문제를 해결할 때 자주 사용되는</a:t>
            </a:r>
            <a:r>
              <a:rPr lang="en-US" altLang="ko-KR" dirty="0"/>
              <a:t>, </a:t>
            </a:r>
            <a:r>
              <a:rPr lang="ko-KR" altLang="en-US" dirty="0"/>
              <a:t>보편적인 알고리즘의 </a:t>
            </a:r>
            <a:r>
              <a:rPr lang="ko-KR" altLang="en-US" b="1" dirty="0"/>
              <a:t>개념</a:t>
            </a:r>
            <a:r>
              <a:rPr lang="ko-KR" altLang="en-US" dirty="0"/>
              <a:t>을 배웁니다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Ex&gt; </a:t>
            </a:r>
            <a:r>
              <a:rPr lang="ko-KR" altLang="en-US" dirty="0"/>
              <a:t>분할 정복</a:t>
            </a:r>
            <a:r>
              <a:rPr lang="en-US" altLang="ko-KR" dirty="0"/>
              <a:t>, </a:t>
            </a:r>
            <a:r>
              <a:rPr lang="ko-KR" altLang="en-US" dirty="0"/>
              <a:t>욕심쟁이 기법</a:t>
            </a:r>
            <a:r>
              <a:rPr lang="en-US" altLang="ko-KR" dirty="0"/>
              <a:t>, </a:t>
            </a:r>
            <a:r>
              <a:rPr lang="ko-KR" altLang="en-US" dirty="0"/>
              <a:t>동적 계획법 등</a:t>
            </a:r>
            <a:r>
              <a:rPr lang="en-US" altLang="ko-KR" dirty="0"/>
              <a:t>…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바탕으로 </a:t>
            </a:r>
            <a:r>
              <a:rPr lang="ko-KR" altLang="en-US" b="1" dirty="0"/>
              <a:t>대표적인 알고리즘 및 문제</a:t>
            </a:r>
            <a:r>
              <a:rPr lang="ko-KR" altLang="en-US" dirty="0"/>
              <a:t> 등을 실습합니다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Ex&gt; Knapsack, BFS, DFS </a:t>
            </a:r>
            <a:r>
              <a:rPr lang="ko-KR" altLang="en-US" dirty="0"/>
              <a:t>등</a:t>
            </a:r>
            <a:r>
              <a:rPr lang="en-US" altLang="ko-KR" dirty="0"/>
              <a:t>…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새로운 문제에 대해 실습을 토대로 </a:t>
            </a:r>
            <a:r>
              <a:rPr lang="ko-KR" altLang="en-US" b="1" dirty="0"/>
              <a:t>응용</a:t>
            </a:r>
            <a:r>
              <a:rPr lang="ko-KR" altLang="en-US" dirty="0"/>
              <a:t>하여 해결하는 </a:t>
            </a:r>
            <a:r>
              <a:rPr lang="ko-KR" altLang="en-US" b="1" dirty="0"/>
              <a:t>연습</a:t>
            </a:r>
            <a:r>
              <a:rPr lang="ko-KR" altLang="en-US" dirty="0"/>
              <a:t>을 합니다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세운 방법을 분석하여 이를 </a:t>
            </a:r>
            <a:r>
              <a:rPr lang="ko-KR" altLang="en-US" b="1" dirty="0"/>
              <a:t>코드로 실제 구현</a:t>
            </a:r>
            <a:r>
              <a:rPr lang="ko-KR" altLang="en-US" dirty="0"/>
              <a:t>하는 연습을 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바로 </a:t>
            </a:r>
            <a:r>
              <a:rPr lang="ko-KR" altLang="en-US" dirty="0"/>
              <a:t>코딩보다는</a:t>
            </a:r>
            <a:r>
              <a:rPr lang="en-US" altLang="ko-KR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19370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</a:rPr>
              <a:t>Introduction </a:t>
            </a:r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to </a:t>
            </a:r>
            <a:r>
              <a:rPr lang="en-US" altLang="ko-KR" sz="3600" dirty="0" err="1">
                <a:solidFill>
                  <a:schemeClr val="accent1">
                    <a:lumMod val="75000"/>
                  </a:schemeClr>
                </a:solidFill>
              </a:rPr>
              <a:t>DomJudge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1787239" y="1825627"/>
            <a:ext cx="4328748" cy="4351339"/>
          </a:xfrm>
        </p:spPr>
        <p:txBody>
          <a:bodyPr/>
          <a:lstStyle/>
          <a:p>
            <a:r>
              <a:rPr lang="en-US" altLang="ko-KR" dirty="0" err="1"/>
              <a:t>Domjudge</a:t>
            </a:r>
            <a:endParaRPr lang="en-US" altLang="ko-KR" dirty="0"/>
          </a:p>
          <a:p>
            <a:pPr marL="342891" indent="-342891">
              <a:buFontTx/>
              <a:buChar char="-"/>
            </a:pPr>
            <a:r>
              <a:rPr lang="en-US" altLang="ko-KR" dirty="0">
                <a:hlinkClick r:id="rId2"/>
              </a:rPr>
              <a:t>https://domjudge.postech.ac.kr</a:t>
            </a:r>
            <a:endParaRPr lang="en-US" altLang="ko-KR" dirty="0"/>
          </a:p>
          <a:p>
            <a:pPr marL="342891" indent="-342891">
              <a:buFontTx/>
              <a:buChar char="-"/>
            </a:pPr>
            <a:r>
              <a:rPr lang="ko-KR" altLang="en-US" dirty="0"/>
              <a:t>코딩 경시대회 플랫폼</a:t>
            </a:r>
            <a:endParaRPr lang="en-US" altLang="ko-KR" dirty="0"/>
          </a:p>
          <a:p>
            <a:pPr marL="342891" indent="-342891">
              <a:buFontTx/>
              <a:buChar char="-"/>
            </a:pPr>
            <a:r>
              <a:rPr lang="ko-KR" altLang="en-US" dirty="0"/>
              <a:t>코드 제출 및 채점 기능</a:t>
            </a:r>
            <a:endParaRPr lang="en-US" altLang="ko-KR" dirty="0"/>
          </a:p>
          <a:p>
            <a:pPr marL="342891" indent="-342891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“</a:t>
            </a:r>
            <a:r>
              <a:rPr lang="en-US" altLang="ko-KR" dirty="0" err="1"/>
              <a:t>Domjudge</a:t>
            </a:r>
            <a:r>
              <a:rPr lang="en-US" altLang="ko-KR" dirty="0"/>
              <a:t>” </a:t>
            </a:r>
            <a:r>
              <a:rPr lang="ko-KR" altLang="en-US" dirty="0"/>
              <a:t>버튼을 클릭하세요</a:t>
            </a:r>
            <a:endParaRPr lang="en-US" altLang="ko-KR" dirty="0"/>
          </a:p>
          <a:p>
            <a:pPr marL="342891" indent="-342891">
              <a:buFontTx/>
              <a:buChar char="-"/>
            </a:pP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237" y="1281112"/>
            <a:ext cx="4264858" cy="488185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258237" y="2338466"/>
            <a:ext cx="922052" cy="2394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1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588" y="2344073"/>
            <a:ext cx="5557390" cy="356819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50" y="2344073"/>
            <a:ext cx="5247033" cy="356819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202798" y="5355171"/>
            <a:ext cx="1001163" cy="3036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787299" y="2381548"/>
            <a:ext cx="513347" cy="2342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2704334" y="1090331"/>
            <a:ext cx="6658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Domjudge</a:t>
            </a:r>
            <a:r>
              <a:rPr lang="ko-KR" altLang="en-US" dirty="0"/>
              <a:t>의 </a:t>
            </a:r>
            <a:r>
              <a:rPr lang="en-US" altLang="ko-KR" dirty="0"/>
              <a:t>“Register now”</a:t>
            </a:r>
            <a:r>
              <a:rPr lang="ko-KR" altLang="en-US" dirty="0"/>
              <a:t>를 클릭하여 아이디를 등록하세요</a:t>
            </a:r>
            <a:r>
              <a:rPr lang="en-US" altLang="ko-KR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</a:rPr>
              <a:t>Introduction </a:t>
            </a:r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to </a:t>
            </a:r>
            <a:r>
              <a:rPr lang="en-US" altLang="ko-KR" sz="3600" dirty="0" err="1">
                <a:solidFill>
                  <a:schemeClr val="accent1">
                    <a:lumMod val="75000"/>
                  </a:schemeClr>
                </a:solidFill>
              </a:rPr>
              <a:t>DomJudge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4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894865" y="1911726"/>
            <a:ext cx="509804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가입을 할 시 다음과 같이 기입합니다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Username: </a:t>
            </a:r>
            <a:r>
              <a:rPr lang="ko-KR" altLang="en-US" dirty="0"/>
              <a:t>로그인할 아이디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Email: </a:t>
            </a:r>
            <a:r>
              <a:rPr lang="ko-KR" altLang="en-US" dirty="0"/>
              <a:t>쓸 필요 없음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Team name: </a:t>
            </a:r>
            <a:r>
              <a:rPr lang="ko-KR" altLang="en-US" dirty="0"/>
              <a:t>로그인할 아이디와 동일하게 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Password: </a:t>
            </a:r>
            <a:r>
              <a:rPr lang="ko-KR" altLang="en-US" dirty="0"/>
              <a:t>패스워드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Repeat Password: </a:t>
            </a:r>
            <a:r>
              <a:rPr lang="ko-KR" altLang="en-US" dirty="0"/>
              <a:t>패스워드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본인과 본인</a:t>
            </a:r>
            <a:r>
              <a:rPr lang="en-US" altLang="ko-KR" b="1" dirty="0"/>
              <a:t>ID</a:t>
            </a:r>
            <a:r>
              <a:rPr lang="ko-KR" altLang="en-US" b="1" dirty="0"/>
              <a:t>의 </a:t>
            </a:r>
            <a:r>
              <a:rPr lang="ko-KR" altLang="en-US" b="1" dirty="0" err="1"/>
              <a:t>매칭을</a:t>
            </a:r>
            <a:r>
              <a:rPr lang="ko-KR" altLang="en-US" b="1" dirty="0"/>
              <a:t> 부탁드립니다</a:t>
            </a:r>
            <a:r>
              <a:rPr lang="en-US" altLang="ko-KR" b="1" dirty="0"/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>
                <a:solidFill>
                  <a:schemeClr val="accent1">
                    <a:lumMod val="75000"/>
                  </a:schemeClr>
                </a:solidFill>
              </a:rPr>
              <a:t>Introduction </a:t>
            </a:r>
            <a:r>
              <a:rPr lang="en-US" altLang="ko-KR" sz="3600" smtClean="0">
                <a:solidFill>
                  <a:schemeClr val="accent1">
                    <a:lumMod val="75000"/>
                  </a:schemeClr>
                </a:solidFill>
              </a:rPr>
              <a:t>to </a:t>
            </a:r>
            <a:r>
              <a:rPr lang="en-US" altLang="ko-KR" sz="3600" dirty="0" err="1">
                <a:solidFill>
                  <a:schemeClr val="accent1">
                    <a:lumMod val="75000"/>
                  </a:schemeClr>
                </a:solidFill>
              </a:rPr>
              <a:t>DomJudge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304" y="1219819"/>
            <a:ext cx="3391134" cy="4614846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615004" y="2387632"/>
            <a:ext cx="3162925" cy="4530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615004" y="3500651"/>
            <a:ext cx="3162925" cy="4530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615004" y="4591186"/>
            <a:ext cx="3162925" cy="4530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615004" y="4044045"/>
            <a:ext cx="3162925" cy="4530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524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195" y="1876415"/>
            <a:ext cx="6883297" cy="317103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874166" y="2169272"/>
            <a:ext cx="301372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로그인 후의 홈 화면입니다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① 이 버튼을 누르면 홈 화면으로 돌아오게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② 이 버튼을 통해 </a:t>
            </a:r>
            <a:r>
              <a:rPr lang="en-US" altLang="ko-KR" dirty="0"/>
              <a:t>contest</a:t>
            </a:r>
            <a:r>
              <a:rPr lang="ko-KR" altLang="en-US" dirty="0"/>
              <a:t>를 선택하시면 해당하는 날짜에 진행되는 실습에 참가하실 수 있습니다</a:t>
            </a:r>
            <a:r>
              <a:rPr lang="en-US" altLang="ko-KR" dirty="0"/>
              <a:t>.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015301" y="1925037"/>
            <a:ext cx="1422974" cy="285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0212034" y="1929142"/>
            <a:ext cx="775755" cy="285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228312" y="15864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7551" y="159058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err="1">
                <a:solidFill>
                  <a:schemeClr val="accent1">
                    <a:lumMod val="75000"/>
                  </a:schemeClr>
                </a:solidFill>
              </a:rPr>
              <a:t>DomJudge</a:t>
            </a:r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</a:rPr>
              <a:t> Home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638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206675" y="1105241"/>
            <a:ext cx="30137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상단의 </a:t>
            </a:r>
            <a:r>
              <a:rPr lang="en-US" altLang="ko-KR" dirty="0" err="1"/>
              <a:t>Problemset</a:t>
            </a:r>
            <a:r>
              <a:rPr lang="en-US" altLang="ko-KR" dirty="0"/>
              <a:t> </a:t>
            </a:r>
            <a:r>
              <a:rPr lang="ko-KR" altLang="en-US" dirty="0"/>
              <a:t>버튼을 누르면 다음과 같이 문제 설명을 볼 수 있는 페이지로 넘어옵니다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“problem text” </a:t>
            </a:r>
            <a:r>
              <a:rPr lang="ko-KR" altLang="en-US" dirty="0"/>
              <a:t>버튼을 눌러 각 문제에 대한 설명을 확인하실 수 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r="25076"/>
          <a:stretch/>
        </p:blipFill>
        <p:spPr>
          <a:xfrm>
            <a:off x="5519742" y="1084702"/>
            <a:ext cx="5891212" cy="5033093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6628406" y="3601244"/>
            <a:ext cx="991601" cy="275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8876306" y="3601244"/>
            <a:ext cx="991601" cy="275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</a:rPr>
              <a:t>Problem Text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3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206675" y="1284859"/>
            <a:ext cx="445382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Jupyter</a:t>
            </a:r>
            <a:r>
              <a:rPr lang="en-US" altLang="ko-KR" dirty="0"/>
              <a:t> Notebook</a:t>
            </a:r>
            <a:r>
              <a:rPr lang="ko-KR" altLang="en-US" dirty="0"/>
              <a:t>을 쓰신다면</a:t>
            </a:r>
            <a:r>
              <a:rPr lang="en-US" altLang="ko-KR" dirty="0"/>
              <a:t>, </a:t>
            </a:r>
            <a:r>
              <a:rPr lang="ko-KR" altLang="en-US" dirty="0"/>
              <a:t>오른쪽과 같은 방법으로 개인 컴퓨터에 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파일을 저장 가능합니다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① 열려있는 </a:t>
            </a:r>
            <a:r>
              <a:rPr lang="en-US" altLang="ko-KR" dirty="0" err="1"/>
              <a:t>ipynb</a:t>
            </a:r>
            <a:r>
              <a:rPr lang="en-US" altLang="ko-KR" dirty="0"/>
              <a:t> </a:t>
            </a:r>
            <a:r>
              <a:rPr lang="ko-KR" altLang="en-US" dirty="0"/>
              <a:t>파일에서 </a:t>
            </a:r>
            <a:r>
              <a:rPr lang="en-US" altLang="ko-KR" dirty="0"/>
              <a:t>File </a:t>
            </a:r>
            <a:r>
              <a:rPr lang="ko-KR" altLang="en-US" dirty="0"/>
              <a:t>선택</a:t>
            </a:r>
            <a:endParaRPr lang="en-US" altLang="ko-KR" dirty="0"/>
          </a:p>
          <a:p>
            <a:r>
              <a:rPr lang="ko-KR" altLang="en-US" dirty="0"/>
              <a:t>② </a:t>
            </a:r>
            <a:r>
              <a:rPr lang="en-US" altLang="ko-KR" dirty="0"/>
              <a:t>Download as </a:t>
            </a:r>
            <a:r>
              <a:rPr lang="ko-KR" altLang="en-US" dirty="0"/>
              <a:t>선택</a:t>
            </a:r>
            <a:endParaRPr lang="en-US" altLang="ko-KR" dirty="0"/>
          </a:p>
          <a:p>
            <a:r>
              <a:rPr lang="ko-KR" altLang="en-US" dirty="0"/>
              <a:t>③ </a:t>
            </a:r>
            <a:r>
              <a:rPr lang="en-US" altLang="ko-KR" dirty="0"/>
              <a:t>Python (.</a:t>
            </a:r>
            <a:r>
              <a:rPr lang="en-US" altLang="ko-KR" dirty="0" err="1"/>
              <a:t>py</a:t>
            </a:r>
            <a:r>
              <a:rPr lang="en-US" altLang="ko-KR" dirty="0"/>
              <a:t>) </a:t>
            </a:r>
            <a:r>
              <a:rPr lang="ko-KR" altLang="en-US" dirty="0"/>
              <a:t>선택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자동으로 다운로드가 되며</a:t>
            </a:r>
            <a:r>
              <a:rPr lang="en-US" altLang="ko-KR" dirty="0"/>
              <a:t>, </a:t>
            </a:r>
            <a:r>
              <a:rPr lang="ko-KR" altLang="en-US" dirty="0"/>
              <a:t>컴퓨터의 다운로드 폴더에 있습니다</a:t>
            </a:r>
            <a:r>
              <a:rPr lang="en-US" altLang="ko-KR" dirty="0"/>
              <a:t>. (</a:t>
            </a:r>
            <a:r>
              <a:rPr lang="ko-KR" altLang="en-US" dirty="0"/>
              <a:t>이 부분은 개인이 인터넷 옵션을 어떻게 설정하느냐에 따라 다릅니다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en-US" altLang="ko-KR" dirty="0"/>
              <a:t>※</a:t>
            </a:r>
            <a:r>
              <a:rPr lang="ko-KR" altLang="en-US" dirty="0"/>
              <a:t>주의</a:t>
            </a:r>
            <a:r>
              <a:rPr lang="en-US" altLang="ko-KR" dirty="0"/>
              <a:t>! Cell</a:t>
            </a:r>
            <a:r>
              <a:rPr lang="ko-KR" altLang="en-US" dirty="0"/>
              <a:t>이 여러 개 있다면 모두 묶어서 하나의 파일로 다운로드가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제출 시 다른 </a:t>
            </a:r>
            <a:r>
              <a:rPr lang="en-US" altLang="ko-KR" dirty="0"/>
              <a:t>Cell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주석처리 혹은 파일을 분리해서 하는 것을 추천합니다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+ </a:t>
            </a:r>
            <a:r>
              <a:rPr lang="ko-KR" altLang="en-US" dirty="0"/>
              <a:t>내기 전 낼 코드를 확인해보세요</a:t>
            </a:r>
            <a:r>
              <a:rPr lang="en-US" altLang="ko-KR" dirty="0"/>
              <a:t>!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709109" y="1461540"/>
            <a:ext cx="4911077" cy="4035723"/>
            <a:chOff x="5614827" y="1227010"/>
            <a:chExt cx="5989985" cy="492232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2"/>
            <a:srcRect l="484" t="9618" r="57807" b="38201"/>
            <a:stretch/>
          </p:blipFill>
          <p:spPr>
            <a:xfrm>
              <a:off x="5822576" y="1227010"/>
              <a:ext cx="5782236" cy="4922326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7473486" y="4262718"/>
              <a:ext cx="930926" cy="1973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047890" y="4021686"/>
              <a:ext cx="971475" cy="28256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947DB6F-0E29-418C-89C5-B1FB0A5C3A64}"/>
                </a:ext>
              </a:extLst>
            </p:cNvPr>
            <p:cNvSpPr/>
            <p:nvPr/>
          </p:nvSpPr>
          <p:spPr>
            <a:xfrm>
              <a:off x="6009665" y="1586753"/>
              <a:ext cx="415090" cy="2522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0F6A77F-76FA-492F-B444-8F0D5D9DB75D}"/>
                </a:ext>
              </a:extLst>
            </p:cNvPr>
            <p:cNvSpPr/>
            <p:nvPr/>
          </p:nvSpPr>
          <p:spPr>
            <a:xfrm>
              <a:off x="5614827" y="1469698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79AF6BB-6031-4193-97B3-5AF732181D13}"/>
                </a:ext>
              </a:extLst>
            </p:cNvPr>
            <p:cNvSpPr/>
            <p:nvPr/>
          </p:nvSpPr>
          <p:spPr>
            <a:xfrm>
              <a:off x="5632392" y="3958972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86AD462-EE0C-4478-B40C-6126601C9B8D}"/>
                </a:ext>
              </a:extLst>
            </p:cNvPr>
            <p:cNvSpPr/>
            <p:nvPr/>
          </p:nvSpPr>
          <p:spPr>
            <a:xfrm>
              <a:off x="8559053" y="4162969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</a:rPr>
              <a:t>How to Submit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5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068" y="2320630"/>
            <a:ext cx="6030375" cy="314594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206675" y="1284859"/>
            <a:ext cx="338281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상단의 </a:t>
            </a:r>
            <a:r>
              <a:rPr lang="en-US" altLang="ko-KR" dirty="0"/>
              <a:t>Submit </a:t>
            </a:r>
            <a:r>
              <a:rPr lang="ko-KR" altLang="en-US" dirty="0"/>
              <a:t>버튼을 통해서 코드를 제출하실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① 소스 코드를 선택하여 붙여 넣고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en-US" altLang="ko-KR" dirty="0"/>
              <a:t>Browse)</a:t>
            </a:r>
          </a:p>
          <a:p>
            <a:endParaRPr lang="en-US" altLang="ko-KR" dirty="0"/>
          </a:p>
          <a:p>
            <a:r>
              <a:rPr lang="ko-KR" altLang="en-US" dirty="0"/>
              <a:t>② 제출할 문제를 선택한 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③ 제출 언어를 </a:t>
            </a:r>
            <a:r>
              <a:rPr lang="en-US" altLang="ko-KR" dirty="0"/>
              <a:t>Python3</a:t>
            </a:r>
            <a:r>
              <a:rPr lang="ko-KR" altLang="en-US" dirty="0"/>
              <a:t>로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제출한 소스코드의 확장자가</a:t>
            </a:r>
            <a:r>
              <a:rPr lang="en-US" altLang="ko-KR" dirty="0"/>
              <a:t> .</a:t>
            </a:r>
            <a:r>
              <a:rPr lang="en-US" altLang="ko-KR" dirty="0" err="1"/>
              <a:t>py</a:t>
            </a:r>
            <a:r>
              <a:rPr lang="ko-KR" altLang="en-US" dirty="0"/>
              <a:t>인 경우 자동으로 선택됩니다</a:t>
            </a:r>
            <a:r>
              <a:rPr lang="en-US" altLang="ko-KR" dirty="0"/>
              <a:t>.)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728650" y="3092034"/>
            <a:ext cx="5891211" cy="330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728650" y="3764184"/>
            <a:ext cx="5891211" cy="330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28650" y="4410959"/>
            <a:ext cx="5891211" cy="330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1CA8C23-3013-4C9F-89BC-70345F76E3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551" r="25076" b="80114"/>
          <a:stretch/>
        </p:blipFill>
        <p:spPr>
          <a:xfrm>
            <a:off x="5728650" y="1668467"/>
            <a:ext cx="5891212" cy="41949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47DB6F-0E29-418C-89C5-B1FB0A5C3A64}"/>
              </a:ext>
            </a:extLst>
          </p:cNvPr>
          <p:cNvSpPr/>
          <p:nvPr/>
        </p:nvSpPr>
        <p:spPr>
          <a:xfrm>
            <a:off x="9804097" y="1676202"/>
            <a:ext cx="830179" cy="400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0F6A77F-76FA-492F-B444-8F0D5D9DB75D}"/>
              </a:ext>
            </a:extLst>
          </p:cNvPr>
          <p:cNvSpPr/>
          <p:nvPr/>
        </p:nvSpPr>
        <p:spPr>
          <a:xfrm>
            <a:off x="6231310" y="277803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79AF6BB-6031-4193-97B3-5AF732181D13}"/>
              </a:ext>
            </a:extLst>
          </p:cNvPr>
          <p:cNvSpPr/>
          <p:nvPr/>
        </p:nvSpPr>
        <p:spPr>
          <a:xfrm>
            <a:off x="6231310" y="34483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6AD462-EE0C-4478-B40C-6126601C9B8D}"/>
              </a:ext>
            </a:extLst>
          </p:cNvPr>
          <p:cNvSpPr/>
          <p:nvPr/>
        </p:nvSpPr>
        <p:spPr>
          <a:xfrm>
            <a:off x="6231310" y="410014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</a:rPr>
              <a:t>How to Submit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206675" y="5287917"/>
            <a:ext cx="93057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제출하는 소스 코드 파일 이름에 공백이 있으면 안 됩니다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</a:p>
          <a:p>
            <a:endParaRPr lang="en-US" altLang="ko-KR" b="1" dirty="0"/>
          </a:p>
          <a:p>
            <a:r>
              <a:rPr lang="en-US" altLang="ko-KR" b="1" dirty="0"/>
              <a:t>※ </a:t>
            </a:r>
            <a:r>
              <a:rPr lang="ko-KR" altLang="en-US" b="1" dirty="0"/>
              <a:t>제출은 한번에 하는 것보다 그때그때 하는 것을 추천합니다</a:t>
            </a:r>
            <a:r>
              <a:rPr lang="en-US" altLang="ko-KR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2151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978068" y="974605"/>
            <a:ext cx="57643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코드를 제출하게 되면 다음과 같이 제출 결과들이 표시가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</a:rPr>
              <a:t>PENDING</a:t>
            </a:r>
            <a:r>
              <a:rPr lang="en-US" altLang="ko-KR" dirty="0"/>
              <a:t>: </a:t>
            </a:r>
            <a:r>
              <a:rPr lang="ko-KR" altLang="en-US" dirty="0"/>
              <a:t>서버에서 코드를 채점 중에 있습니다</a:t>
            </a:r>
            <a:r>
              <a:rPr lang="en-US" altLang="ko-KR" dirty="0"/>
              <a:t>. </a:t>
            </a:r>
            <a:r>
              <a:rPr lang="ko-KR" altLang="en-US" dirty="0"/>
              <a:t>기다린 후에 </a:t>
            </a:r>
            <a:r>
              <a:rPr lang="ko-KR" altLang="en-US" dirty="0" err="1"/>
              <a:t>새로고침</a:t>
            </a:r>
            <a:r>
              <a:rPr lang="en-US" altLang="ko-KR" dirty="0"/>
              <a:t>(F5)</a:t>
            </a:r>
            <a:r>
              <a:rPr lang="ko-KR" altLang="en-US" dirty="0"/>
              <a:t>을 누르시기 바랍니다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COMPILER-ERROR</a:t>
            </a:r>
            <a:r>
              <a:rPr lang="en-US" altLang="ko-KR" dirty="0"/>
              <a:t>: </a:t>
            </a:r>
            <a:r>
              <a:rPr lang="ko-KR" altLang="en-US" dirty="0"/>
              <a:t>파일을 컴파일하는 과정에서 오류가 발생했습니다</a:t>
            </a:r>
            <a:r>
              <a:rPr lang="en-US" altLang="ko-KR" dirty="0"/>
              <a:t>. </a:t>
            </a:r>
            <a:r>
              <a:rPr lang="ko-KR" altLang="en-US" dirty="0"/>
              <a:t>코드에 문법적 오류가 있는지 확인해보세요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RUN-ERROR</a:t>
            </a:r>
            <a:r>
              <a:rPr lang="en-US" altLang="ko-KR" dirty="0"/>
              <a:t>: </a:t>
            </a:r>
            <a:r>
              <a:rPr lang="ko-KR" altLang="en-US" dirty="0"/>
              <a:t>프로그램이 작동하는 중에 오류가 발생했습니다</a:t>
            </a:r>
            <a:r>
              <a:rPr lang="en-US" altLang="ko-KR" dirty="0"/>
              <a:t>. </a:t>
            </a:r>
            <a:r>
              <a:rPr lang="ko-KR" altLang="en-US" dirty="0"/>
              <a:t>입력 형식에 맞게 프로그램이 작성되었는지</a:t>
            </a:r>
            <a:r>
              <a:rPr lang="en-US" altLang="ko-KR" dirty="0"/>
              <a:t>, list index</a:t>
            </a:r>
            <a:r>
              <a:rPr lang="ko-KR" altLang="en-US" dirty="0"/>
              <a:t>와 메모리 관리가 적절한지 확인하세요</a:t>
            </a:r>
            <a:r>
              <a:rPr lang="en-US" altLang="ko-KR" dirty="0"/>
              <a:t>. </a:t>
            </a:r>
            <a:r>
              <a:rPr lang="ko-KR" altLang="en-US" dirty="0"/>
              <a:t>이유를 모르겠으면 조교에게 문의하시길 바랍니다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NO-OUTPUT</a:t>
            </a:r>
            <a:r>
              <a:rPr lang="en-US" altLang="ko-KR" dirty="0"/>
              <a:t>: </a:t>
            </a:r>
            <a:r>
              <a:rPr lang="ko-KR" altLang="en-US" dirty="0"/>
              <a:t>프로그램이 아무것도 출력하지 않았습니다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WRONG-ANSWER</a:t>
            </a:r>
            <a:r>
              <a:rPr lang="en-US" altLang="ko-KR" dirty="0"/>
              <a:t>: </a:t>
            </a:r>
            <a:r>
              <a:rPr lang="ko-KR" altLang="en-US" dirty="0"/>
              <a:t>프로그램의 출력이 정답과 다릅니다</a:t>
            </a:r>
            <a:r>
              <a:rPr lang="en-US" altLang="ko-KR" dirty="0"/>
              <a:t>. </a:t>
            </a:r>
            <a:r>
              <a:rPr lang="ko-KR" altLang="en-US" dirty="0"/>
              <a:t>알고리즘을 다시 생각해보세요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TIMELIMIT</a:t>
            </a:r>
            <a:r>
              <a:rPr lang="en-US" altLang="ko-KR" dirty="0"/>
              <a:t>: </a:t>
            </a:r>
            <a:r>
              <a:rPr lang="ko-KR" altLang="en-US" dirty="0"/>
              <a:t>프로그램이 시간 제한으로 인해 종료되었습니다</a:t>
            </a:r>
            <a:r>
              <a:rPr lang="en-US" altLang="ko-KR" dirty="0"/>
              <a:t>. </a:t>
            </a:r>
            <a:r>
              <a:rPr lang="ko-KR" altLang="en-US" dirty="0"/>
              <a:t>더 효율적인 알고리즘을 생각해보시기 바랍니다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chemeClr val="accent6"/>
                </a:solidFill>
              </a:rPr>
              <a:t>CORRECT</a:t>
            </a:r>
            <a:r>
              <a:rPr lang="en-US" altLang="ko-KR" dirty="0"/>
              <a:t>: </a:t>
            </a:r>
            <a:r>
              <a:rPr lang="ko-KR" altLang="en-US" dirty="0"/>
              <a:t>정답입니다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Submission Results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t="12181" r="27619"/>
          <a:stretch/>
        </p:blipFill>
        <p:spPr>
          <a:xfrm>
            <a:off x="7742420" y="1877785"/>
            <a:ext cx="4384626" cy="340523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886521" y="3109967"/>
            <a:ext cx="2699376" cy="2173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297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7291" r="2738" b="40394"/>
          <a:stretch/>
        </p:blipFill>
        <p:spPr>
          <a:xfrm>
            <a:off x="6003422" y="1338944"/>
            <a:ext cx="6059485" cy="39382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Clarification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111343" y="3784599"/>
            <a:ext cx="915307" cy="1832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880095" y="2035963"/>
            <a:ext cx="385123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Clarification</a:t>
            </a:r>
            <a:r>
              <a:rPr lang="ko-KR" altLang="en-US" dirty="0"/>
              <a:t>은 </a:t>
            </a:r>
            <a:r>
              <a:rPr lang="en-US" altLang="ko-KR" dirty="0" err="1"/>
              <a:t>Domjudge</a:t>
            </a:r>
            <a:r>
              <a:rPr lang="en-US" altLang="ko-KR" dirty="0"/>
              <a:t> </a:t>
            </a:r>
            <a:r>
              <a:rPr lang="ko-KR" altLang="en-US" dirty="0"/>
              <a:t>서버를 통해 조교에게 질문을 할 수 있는 기능입니다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실습시간</a:t>
            </a:r>
            <a:r>
              <a:rPr lang="ko-KR" altLang="en-US" dirty="0"/>
              <a:t> 외에 조교에게 질문하고 싶은 것이 있다면 이 기능을 활용해주세요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“request clarification” </a:t>
            </a:r>
            <a:r>
              <a:rPr lang="ko-KR" altLang="en-US" dirty="0"/>
              <a:t>버튼을 통해 </a:t>
            </a:r>
            <a:r>
              <a:rPr lang="en-US" altLang="ko-KR" dirty="0"/>
              <a:t>clarification</a:t>
            </a:r>
            <a:r>
              <a:rPr lang="ko-KR" altLang="en-US" dirty="0"/>
              <a:t>을 보낼 수 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557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408" y="1615803"/>
            <a:ext cx="6126456" cy="39605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Clarification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651048" y="3067842"/>
            <a:ext cx="5988814" cy="3605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658739" y="3733308"/>
            <a:ext cx="5981123" cy="1093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0942575" y="5145947"/>
            <a:ext cx="697287" cy="3520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0F6A77F-76FA-492F-B444-8F0D5D9DB75D}"/>
              </a:ext>
            </a:extLst>
          </p:cNvPr>
          <p:cNvSpPr/>
          <p:nvPr/>
        </p:nvSpPr>
        <p:spPr>
          <a:xfrm>
            <a:off x="5312082" y="2965242"/>
            <a:ext cx="622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9AF6BB-6031-4193-97B3-5AF732181D13}"/>
              </a:ext>
            </a:extLst>
          </p:cNvPr>
          <p:cNvSpPr/>
          <p:nvPr/>
        </p:nvSpPr>
        <p:spPr>
          <a:xfrm>
            <a:off x="5312082" y="3634851"/>
            <a:ext cx="622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6AD462-EE0C-4478-B40C-6126601C9B8D}"/>
              </a:ext>
            </a:extLst>
          </p:cNvPr>
          <p:cNvSpPr/>
          <p:nvPr/>
        </p:nvSpPr>
        <p:spPr>
          <a:xfrm>
            <a:off x="11024796" y="5447827"/>
            <a:ext cx="868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409875" y="1742059"/>
            <a:ext cx="30137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① 질문할 문제를 선택합니다</a:t>
            </a:r>
            <a:r>
              <a:rPr lang="en-US" altLang="ko-KR" dirty="0"/>
              <a:t>. </a:t>
            </a:r>
            <a:r>
              <a:rPr lang="ko-KR" altLang="en-US" dirty="0"/>
              <a:t>문제에 관한 질문이 아닌 경우</a:t>
            </a:r>
            <a:r>
              <a:rPr lang="en-US" altLang="ko-KR" dirty="0"/>
              <a:t>, “General Issue”</a:t>
            </a:r>
            <a:r>
              <a:rPr lang="ko-KR" altLang="en-US" dirty="0"/>
              <a:t>를 선택해주세요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② 질문 내용을 입력 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③ </a:t>
            </a:r>
            <a:r>
              <a:rPr lang="en-US" altLang="ko-KR" dirty="0"/>
              <a:t>“Send” </a:t>
            </a:r>
            <a:r>
              <a:rPr lang="ko-KR" altLang="en-US" dirty="0"/>
              <a:t>버튼을 누르면 조교에게</a:t>
            </a:r>
            <a:r>
              <a:rPr lang="en-US" altLang="ko-KR" dirty="0"/>
              <a:t> clarification</a:t>
            </a:r>
            <a:r>
              <a:rPr lang="ko-KR" altLang="en-US" dirty="0"/>
              <a:t>이 전달됩니다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581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7816" r="2361" b="41379"/>
          <a:stretch/>
        </p:blipFill>
        <p:spPr>
          <a:xfrm>
            <a:off x="5715544" y="1325586"/>
            <a:ext cx="4924103" cy="30959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Clarification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191500" y="2489201"/>
            <a:ext cx="2247900" cy="14906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409875" y="1742059"/>
            <a:ext cx="30137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답변이 오면 다음과 같이 홈 화면 오른쪽에서 확인하실 수 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0757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Problem Text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182"/>
          <a:stretch/>
        </p:blipFill>
        <p:spPr>
          <a:xfrm>
            <a:off x="2878289" y="1349951"/>
            <a:ext cx="6435421" cy="472856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577351" y="1903547"/>
            <a:ext cx="1963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문제에 대한 설명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132000" y="1349951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문제 제목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313710" y="2781821"/>
            <a:ext cx="2425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프로그램의 입력 형식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532410" y="3555581"/>
            <a:ext cx="2425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프로그램의 출력 </a:t>
            </a:r>
            <a:r>
              <a:rPr lang="ko-KR" altLang="en-US" b="1" dirty="0">
                <a:solidFill>
                  <a:srgbClr val="0070C0"/>
                </a:solidFill>
              </a:rPr>
              <a:t>형식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297210" y="4779562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입출력 예시</a:t>
            </a:r>
          </a:p>
        </p:txBody>
      </p:sp>
    </p:spTree>
    <p:extLst>
      <p:ext uri="{BB962C8B-B14F-4D97-AF65-F5344CB8AC3E}">
        <p14:creationId xmlns:p14="http://schemas.microsoft.com/office/powerpoint/2010/main" val="3819602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Time Complexity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3118181" y="4089047"/>
          <a:ext cx="5953628" cy="19628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76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n(</a:t>
                      </a:r>
                      <a:r>
                        <a:rPr lang="ko-KR" altLang="en-US" sz="2500" dirty="0"/>
                        <a:t>데이터의 크기</a:t>
                      </a:r>
                      <a:r>
                        <a:rPr lang="en-US" altLang="ko-KR" sz="2500" dirty="0"/>
                        <a:t>)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err="1"/>
                        <a:t>시간복잡도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10,000,000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O(n)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100,000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O(n * log n)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1,000~5,000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O(n</a:t>
                      </a:r>
                      <a:r>
                        <a:rPr lang="en-US" altLang="ko-KR" sz="2500" baseline="30000" dirty="0"/>
                        <a:t>2</a:t>
                      </a:r>
                      <a:r>
                        <a:rPr lang="en-US" altLang="ko-KR" sz="2500" dirty="0"/>
                        <a:t>)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9504" t="34413"/>
          <a:stretch/>
        </p:blipFill>
        <p:spPr>
          <a:xfrm>
            <a:off x="1612135" y="2310062"/>
            <a:ext cx="10062506" cy="1008965"/>
          </a:xfrm>
          <a:prstGeom prst="rect">
            <a:avLst/>
          </a:prstGeom>
          <a:noFill/>
        </p:spPr>
      </p:pic>
      <p:sp>
        <p:nvSpPr>
          <p:cNvPr id="13" name="직사각형 12"/>
          <p:cNvSpPr/>
          <p:nvPr/>
        </p:nvSpPr>
        <p:spPr>
          <a:xfrm>
            <a:off x="6425531" y="2893586"/>
            <a:ext cx="3332079" cy="27072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004703" y="1369938"/>
            <a:ext cx="101872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프로그램 문제의 입력 형식에서는 보통 입력되는 데이터의 크기가 주어집니다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형식에서 언급되는 크기 및 기타 조건에 대한 예외 처리는 생략하셔도 됩니다</a:t>
            </a:r>
            <a:r>
              <a:rPr lang="en-US" altLang="ko-KR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N</a:t>
            </a:r>
            <a:r>
              <a:rPr lang="ko-KR" altLang="en-US" dirty="0"/>
              <a:t>은 </a:t>
            </a:r>
            <a:r>
              <a:rPr lang="en-US" altLang="ko-KR" dirty="0"/>
              <a:t>10</a:t>
            </a:r>
            <a:r>
              <a:rPr lang="ko-KR" altLang="en-US" dirty="0"/>
              <a:t>만 이하의 자연수이다</a:t>
            </a:r>
            <a:r>
              <a:rPr lang="en-US" altLang="ko-KR" dirty="0"/>
              <a:t>.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if N &lt;= 100,000: (</a:t>
            </a:r>
            <a:r>
              <a:rPr lang="ko-KR" altLang="en-US" dirty="0"/>
              <a:t>필요 없음</a:t>
            </a:r>
            <a:r>
              <a:rPr lang="en-US" altLang="ko-KR" dirty="0"/>
              <a:t>)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주어진 입력 데이터의 크기를 통해서 실습 문제에서 요구하는 시간복잡도가 추측 가능합니다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7793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기본 라이브러리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004703" y="1369938"/>
            <a:ext cx="930427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알고리즘 실습에서는 </a:t>
            </a:r>
            <a:r>
              <a:rPr lang="en-US" altLang="ko-KR" dirty="0"/>
              <a:t>Python 3</a:t>
            </a:r>
            <a:r>
              <a:rPr lang="ko-KR" altLang="en-US" dirty="0"/>
              <a:t>가 제공하는 기본 라이브러리</a:t>
            </a:r>
            <a:r>
              <a:rPr lang="en-US" altLang="ko-KR" dirty="0"/>
              <a:t>(math, </a:t>
            </a:r>
            <a:r>
              <a:rPr lang="en-US" altLang="ko-KR" dirty="0" err="1"/>
              <a:t>heapq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만을 이용해서 실습을 하게 됩니다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등을 사용할 수 없음을 주의해주세요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※ </a:t>
            </a:r>
            <a:r>
              <a:rPr lang="ko-KR" altLang="en-US" dirty="0"/>
              <a:t>정적</a:t>
            </a:r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(Array)</a:t>
            </a:r>
            <a:r>
              <a:rPr lang="ko-KR" altLang="en-US" dirty="0"/>
              <a:t> 만드는 방법</a:t>
            </a:r>
            <a:r>
              <a:rPr lang="en-US" altLang="ko-KR" dirty="0"/>
              <a:t>: List</a:t>
            </a:r>
            <a:r>
              <a:rPr lang="ko-KR" altLang="en-US" dirty="0"/>
              <a:t>를 이용합니다</a:t>
            </a:r>
            <a:r>
              <a:rPr lang="en-US" altLang="ko-KR" dirty="0"/>
              <a:t>. (</a:t>
            </a:r>
            <a:r>
              <a:rPr lang="en-US" altLang="ko-KR" dirty="0" err="1">
                <a:solidFill>
                  <a:schemeClr val="bg2">
                    <a:lumMod val="75000"/>
                  </a:schemeClr>
                </a:solidFill>
              </a:rPr>
              <a:t>Initial_Data</a:t>
            </a:r>
            <a:r>
              <a:rPr lang="ko-KR" altLang="en-US" dirty="0">
                <a:solidFill>
                  <a:schemeClr val="bg2">
                    <a:lumMod val="75000"/>
                  </a:schemeClr>
                </a:solidFill>
              </a:rPr>
              <a:t>는 직접 값을 넣는 곳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크기 </a:t>
            </a:r>
            <a:r>
              <a:rPr lang="en-US" altLang="ko-KR" dirty="0"/>
              <a:t>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차원 배열</a:t>
            </a:r>
            <a:r>
              <a:rPr lang="en-US" altLang="ko-KR" dirty="0"/>
              <a:t>: </a:t>
            </a:r>
            <a:r>
              <a:rPr lang="en-US" altLang="ko-KR" dirty="0" err="1"/>
              <a:t>Arr</a:t>
            </a:r>
            <a:r>
              <a:rPr lang="en-US" altLang="ko-KR" dirty="0"/>
              <a:t> = [</a:t>
            </a:r>
            <a:r>
              <a:rPr lang="en-US" altLang="ko-KR" dirty="0" err="1">
                <a:solidFill>
                  <a:schemeClr val="bg2">
                    <a:lumMod val="75000"/>
                  </a:schemeClr>
                </a:solidFill>
              </a:rPr>
              <a:t>Initial_Data</a:t>
            </a:r>
            <a:r>
              <a:rPr lang="en-US" altLang="ko-KR" dirty="0"/>
              <a:t>]</a:t>
            </a:r>
            <a:r>
              <a:rPr lang="ko-KR" altLang="en-US" dirty="0"/>
              <a:t>*</a:t>
            </a:r>
            <a:r>
              <a:rPr lang="en-US" altLang="ko-KR" dirty="0"/>
              <a:t>N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N</a:t>
            </a:r>
            <a:r>
              <a:rPr lang="ko-KR" altLang="en-US" dirty="0"/>
              <a:t>*</a:t>
            </a:r>
            <a:r>
              <a:rPr lang="en-US" altLang="ko-KR" dirty="0"/>
              <a:t>N 2</a:t>
            </a:r>
            <a:r>
              <a:rPr lang="ko-KR" altLang="en-US" dirty="0"/>
              <a:t>차원 배열</a:t>
            </a:r>
            <a:r>
              <a:rPr lang="en-US" altLang="ko-KR" dirty="0"/>
              <a:t>: Matrix = [[</a:t>
            </a:r>
            <a:r>
              <a:rPr lang="en-US" altLang="ko-KR" dirty="0" err="1">
                <a:solidFill>
                  <a:schemeClr val="bg2">
                    <a:lumMod val="75000"/>
                  </a:schemeClr>
                </a:solidFill>
              </a:rPr>
              <a:t>Initial_Data</a:t>
            </a:r>
            <a:r>
              <a:rPr lang="en-US" altLang="ko-KR" dirty="0"/>
              <a:t>]</a:t>
            </a:r>
            <a:r>
              <a:rPr lang="ko-KR" altLang="en-US" dirty="0"/>
              <a:t>*</a:t>
            </a:r>
            <a:r>
              <a:rPr lang="en-US" altLang="ko-KR" dirty="0"/>
              <a:t>N for _ in range(N)]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N</a:t>
            </a:r>
            <a:r>
              <a:rPr lang="ko-KR" altLang="en-US" dirty="0"/>
              <a:t>*</a:t>
            </a:r>
            <a:r>
              <a:rPr lang="en-US" altLang="ko-KR" dirty="0"/>
              <a:t>M 2</a:t>
            </a:r>
            <a:r>
              <a:rPr lang="ko-KR" altLang="en-US" dirty="0"/>
              <a:t>차원 배열</a:t>
            </a:r>
            <a:r>
              <a:rPr lang="en-US" altLang="ko-KR" dirty="0"/>
              <a:t>: Matrix = [[</a:t>
            </a:r>
            <a:r>
              <a:rPr lang="en-US" altLang="ko-KR" dirty="0" err="1">
                <a:solidFill>
                  <a:schemeClr val="bg2">
                    <a:lumMod val="75000"/>
                  </a:schemeClr>
                </a:solidFill>
              </a:rPr>
              <a:t>Initial_Data</a:t>
            </a:r>
            <a:r>
              <a:rPr lang="en-US" altLang="ko-KR" dirty="0"/>
              <a:t>]</a:t>
            </a:r>
            <a:r>
              <a:rPr lang="ko-KR" altLang="en-US" dirty="0"/>
              <a:t>*</a:t>
            </a:r>
            <a:r>
              <a:rPr lang="en-US" altLang="ko-KR" dirty="0"/>
              <a:t>M for _ in range(N)]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※ </a:t>
            </a:r>
            <a:r>
              <a:rPr lang="ko-KR" altLang="en-US" dirty="0"/>
              <a:t>정해진 크기를 가지게 만들었으나</a:t>
            </a:r>
            <a:r>
              <a:rPr lang="en-US" altLang="ko-KR" dirty="0"/>
              <a:t>, </a:t>
            </a:r>
            <a:r>
              <a:rPr lang="ko-KR" altLang="en-US" dirty="0"/>
              <a:t>언제든 </a:t>
            </a:r>
            <a:r>
              <a:rPr lang="en-US" altLang="ko-KR" dirty="0"/>
              <a:t>Append</a:t>
            </a:r>
            <a:r>
              <a:rPr lang="ko-KR" altLang="en-US" dirty="0"/>
              <a:t>나 </a:t>
            </a:r>
            <a:r>
              <a:rPr lang="en-US" altLang="ko-KR" dirty="0"/>
              <a:t>Pop </a:t>
            </a:r>
            <a:r>
              <a:rPr lang="ko-KR" altLang="en-US" dirty="0"/>
              <a:t>등을 이용하여 크기를 바꿀 수 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240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01. A+B 1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04703" y="1369938"/>
            <a:ext cx="917129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두 수를 입력 받아서 그 합을 출력하는 프로그램을 제출해봅시다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* Hint: input() </a:t>
            </a:r>
            <a:r>
              <a:rPr lang="ko-KR" altLang="en-US" dirty="0" smtClean="0"/>
              <a:t>함수를 사용할 때에 괄호 안에 문구가 있으면 해당 문구가 출력으로 인식되어 </a:t>
            </a:r>
            <a:r>
              <a:rPr lang="en-US" altLang="ko-KR" dirty="0" smtClean="0"/>
              <a:t>wrong answe</a:t>
            </a:r>
            <a:r>
              <a:rPr lang="en-US" altLang="ko-KR" dirty="0"/>
              <a:t>r</a:t>
            </a:r>
            <a:r>
              <a:rPr lang="ko-KR" altLang="en-US" dirty="0" smtClean="0"/>
              <a:t>가 나오게 됩니다</a:t>
            </a:r>
            <a:r>
              <a:rPr lang="en-US" altLang="ko-KR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input(‘</a:t>
            </a:r>
            <a:r>
              <a:rPr lang="ko-KR" altLang="en-US" dirty="0" smtClean="0"/>
              <a:t>두 수를 입력 받습니다</a:t>
            </a:r>
            <a:r>
              <a:rPr lang="en-US" altLang="ko-KR" dirty="0" smtClean="0"/>
              <a:t>.’)      =&gt;     X</a:t>
            </a:r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input()                                    =&gt;     O</a:t>
            </a:r>
          </a:p>
        </p:txBody>
      </p:sp>
    </p:spTree>
    <p:extLst>
      <p:ext uri="{BB962C8B-B14F-4D97-AF65-F5344CB8AC3E}">
        <p14:creationId xmlns:p14="http://schemas.microsoft.com/office/powerpoint/2010/main" val="13257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01. A+B 1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2448877"/>
            <a:ext cx="59626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1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01. A+B 1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862" y="2280289"/>
            <a:ext cx="9312275" cy="132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9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테스트 케이스만큼 입력을 받아서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각각의 </a:t>
            </a:r>
            <a:r>
              <a:rPr lang="en-US" altLang="ko-KR" dirty="0" smtClean="0"/>
              <a:t>A+B</a:t>
            </a:r>
            <a:r>
              <a:rPr lang="ko-KR" altLang="en-US" dirty="0" smtClean="0"/>
              <a:t>를 전부 구하는 프로그램을 구현합시다</a:t>
            </a:r>
            <a:r>
              <a:rPr lang="en-US" altLang="ko-KR" dirty="0" smtClean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02. A+B 2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8518"/>
          <a:stretch/>
        </p:blipFill>
        <p:spPr>
          <a:xfrm>
            <a:off x="5232399" y="1882934"/>
            <a:ext cx="2266257" cy="45910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232399" y="1882934"/>
            <a:ext cx="2266258" cy="135299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232399" y="3856234"/>
            <a:ext cx="2266258" cy="73325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232399" y="5126023"/>
            <a:ext cx="2266258" cy="74137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573748" y="2882392"/>
            <a:ext cx="21034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출력 예시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/>
              <a:t>10 #1</a:t>
            </a:r>
            <a:r>
              <a:rPr lang="ko-KR" altLang="en-US" dirty="0"/>
              <a:t>번 </a:t>
            </a:r>
            <a:r>
              <a:rPr lang="ko-KR" altLang="en-US" dirty="0" smtClean="0"/>
              <a:t>테스트 답</a:t>
            </a:r>
            <a:endParaRPr lang="en-US" altLang="ko-KR" dirty="0" smtClean="0"/>
          </a:p>
          <a:p>
            <a:r>
              <a:rPr lang="en-US" altLang="ko-KR" dirty="0" smtClean="0"/>
              <a:t>-</a:t>
            </a:r>
            <a:r>
              <a:rPr lang="en-US" altLang="ko-KR" dirty="0"/>
              <a:t>5 </a:t>
            </a:r>
            <a:r>
              <a:rPr lang="en-US" altLang="ko-KR" dirty="0" smtClean="0"/>
              <a:t>#2</a:t>
            </a:r>
            <a:r>
              <a:rPr lang="ko-KR" altLang="en-US" dirty="0" smtClean="0"/>
              <a:t>번 테스트 답</a:t>
            </a:r>
            <a:endParaRPr lang="en-US" altLang="ko-KR" dirty="0" smtClean="0"/>
          </a:p>
          <a:p>
            <a:r>
              <a:rPr lang="en-US" altLang="ko-KR" dirty="0"/>
              <a:t>13 </a:t>
            </a:r>
            <a:r>
              <a:rPr lang="en-US" altLang="ko-KR" dirty="0" smtClean="0"/>
              <a:t>#3</a:t>
            </a:r>
            <a:r>
              <a:rPr lang="ko-KR" altLang="en-US" dirty="0" smtClean="0"/>
              <a:t>번 테스트 답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21961" y="3301295"/>
            <a:ext cx="24123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입력 예시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 #</a:t>
            </a:r>
            <a:r>
              <a:rPr lang="ko-KR" altLang="en-US" dirty="0" smtClean="0"/>
              <a:t>테스트케이스 수</a:t>
            </a:r>
            <a:endParaRPr lang="en-US" altLang="ko-KR" dirty="0" smtClean="0"/>
          </a:p>
          <a:p>
            <a:r>
              <a:rPr lang="en-US" altLang="ko-KR" dirty="0" smtClean="0"/>
              <a:t>2 8 #1</a:t>
            </a:r>
            <a:r>
              <a:rPr lang="ko-KR" altLang="en-US" dirty="0" smtClean="0"/>
              <a:t>번 테스트</a:t>
            </a:r>
            <a:endParaRPr lang="en-US" altLang="ko-KR" dirty="0" smtClean="0"/>
          </a:p>
          <a:p>
            <a:r>
              <a:rPr lang="en-US" altLang="ko-KR" dirty="0" smtClean="0"/>
              <a:t>-7 </a:t>
            </a:r>
            <a:r>
              <a:rPr lang="en-US" altLang="ko-KR" dirty="0"/>
              <a:t>2 </a:t>
            </a:r>
            <a:r>
              <a:rPr lang="en-US" altLang="ko-KR" dirty="0" smtClean="0"/>
              <a:t>#2</a:t>
            </a:r>
            <a:r>
              <a:rPr lang="ko-KR" altLang="en-US" dirty="0" smtClean="0"/>
              <a:t>번 </a:t>
            </a:r>
            <a:r>
              <a:rPr lang="ko-KR" altLang="en-US" dirty="0"/>
              <a:t>테스트</a:t>
            </a:r>
            <a:endParaRPr lang="en-US" altLang="ko-KR" dirty="0" smtClean="0"/>
          </a:p>
          <a:p>
            <a:r>
              <a:rPr lang="en-US" altLang="ko-KR" dirty="0" smtClean="0"/>
              <a:t>23 -</a:t>
            </a:r>
            <a:r>
              <a:rPr lang="en-US" altLang="ko-KR" dirty="0"/>
              <a:t>10 </a:t>
            </a:r>
            <a:r>
              <a:rPr lang="en-US" altLang="ko-KR" dirty="0" smtClean="0"/>
              <a:t>#3</a:t>
            </a:r>
            <a:r>
              <a:rPr lang="ko-KR" altLang="en-US" dirty="0" smtClean="0"/>
              <a:t>번 </a:t>
            </a:r>
            <a:r>
              <a:rPr lang="ko-KR" altLang="en-US" dirty="0"/>
              <a:t>테스트</a:t>
            </a:r>
          </a:p>
        </p:txBody>
      </p:sp>
      <p:cxnSp>
        <p:nvCxnSpPr>
          <p:cNvPr id="11" name="직선 화살표 연결선 10"/>
          <p:cNvCxnSpPr>
            <a:stCxn id="5" idx="1"/>
            <a:endCxn id="10" idx="3"/>
          </p:cNvCxnSpPr>
          <p:nvPr/>
        </p:nvCxnSpPr>
        <p:spPr>
          <a:xfrm flipH="1">
            <a:off x="4134294" y="2559434"/>
            <a:ext cx="1098105" cy="161902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6" idx="1"/>
            <a:endCxn id="10" idx="3"/>
          </p:cNvCxnSpPr>
          <p:nvPr/>
        </p:nvCxnSpPr>
        <p:spPr>
          <a:xfrm flipH="1" flipV="1">
            <a:off x="4134294" y="4178458"/>
            <a:ext cx="1098105" cy="444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7" idx="1"/>
            <a:endCxn id="10" idx="3"/>
          </p:cNvCxnSpPr>
          <p:nvPr/>
        </p:nvCxnSpPr>
        <p:spPr>
          <a:xfrm flipH="1" flipV="1">
            <a:off x="4134294" y="4178458"/>
            <a:ext cx="1098105" cy="131825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endCxn id="9" idx="1"/>
          </p:cNvCxnSpPr>
          <p:nvPr/>
        </p:nvCxnSpPr>
        <p:spPr>
          <a:xfrm>
            <a:off x="7498656" y="3505200"/>
            <a:ext cx="2075092" cy="11585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endCxn id="9" idx="1"/>
          </p:cNvCxnSpPr>
          <p:nvPr/>
        </p:nvCxnSpPr>
        <p:spPr>
          <a:xfrm flipV="1">
            <a:off x="7498656" y="3621056"/>
            <a:ext cx="2075092" cy="123034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endCxn id="9" idx="1"/>
          </p:cNvCxnSpPr>
          <p:nvPr/>
        </p:nvCxnSpPr>
        <p:spPr>
          <a:xfrm flipV="1">
            <a:off x="7498655" y="3621056"/>
            <a:ext cx="2075093" cy="250459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49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02. A+B 2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75" y="2157032"/>
            <a:ext cx="9061450" cy="23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2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38973" y="1369938"/>
            <a:ext cx="97140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테스트 케이스만큼 리스트를 입력 받고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리스트의 합을 출력하는 프로그램을 작성합시다</a:t>
            </a:r>
            <a:r>
              <a:rPr lang="en-US" altLang="ko-KR" dirty="0" smtClean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03.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리스트 합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36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03.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리스트 합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296352"/>
            <a:ext cx="6076950" cy="414337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4491413" y="3928259"/>
            <a:ext cx="4394892" cy="992875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dirty="0" smtClean="0"/>
              <a:t>리스트 </a:t>
            </a:r>
            <a:r>
              <a:rPr lang="en-US" altLang="ko-KR" sz="2500" dirty="0" smtClean="0"/>
              <a:t>l</a:t>
            </a:r>
            <a:r>
              <a:rPr lang="ko-KR" altLang="en-US" sz="2500" dirty="0" smtClean="0"/>
              <a:t>의 각 원소 </a:t>
            </a:r>
            <a:r>
              <a:rPr lang="en-US" altLang="ko-KR" sz="2500" dirty="0"/>
              <a:t>x</a:t>
            </a:r>
            <a:r>
              <a:rPr lang="ko-KR" altLang="en-US" sz="2500" dirty="0" smtClean="0"/>
              <a:t>에 대해</a:t>
            </a:r>
            <a:r>
              <a:rPr lang="en-US" altLang="ko-KR" sz="2500" dirty="0" smtClean="0"/>
              <a:t>:</a:t>
            </a:r>
          </a:p>
          <a:p>
            <a:r>
              <a:rPr lang="en-US" altLang="ko-KR" sz="2500" dirty="0"/>
              <a:t>	</a:t>
            </a:r>
            <a:r>
              <a:rPr lang="en-US" altLang="ko-KR" sz="2500" dirty="0" smtClean="0"/>
              <a:t>s</a:t>
            </a:r>
            <a:r>
              <a:rPr lang="ko-KR" altLang="en-US" sz="2500" dirty="0" smtClean="0"/>
              <a:t>에 </a:t>
            </a:r>
            <a:r>
              <a:rPr lang="en-US" altLang="ko-KR" sz="2500" dirty="0" smtClean="0"/>
              <a:t>x</a:t>
            </a:r>
            <a:r>
              <a:rPr lang="ko-KR" altLang="en-US" sz="2500" dirty="0" smtClean="0"/>
              <a:t>의 값을 더한다</a:t>
            </a:r>
            <a:r>
              <a:rPr lang="en-US" altLang="ko-KR" sz="2500" dirty="0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103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03.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리스트 합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2143125"/>
            <a:ext cx="97250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5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테스트 케이스만큼 리스트를 입력 받습니다</a:t>
            </a:r>
            <a:r>
              <a:rPr lang="en-US" altLang="ko-KR" dirty="0"/>
              <a:t>.</a:t>
            </a:r>
          </a:p>
          <a:p>
            <a:r>
              <a:rPr lang="ko-KR" altLang="en-US" dirty="0" smtClean="0"/>
              <a:t>리스트에서 최댓값과 </a:t>
            </a:r>
            <a:r>
              <a:rPr lang="ko-KR" altLang="en-US" dirty="0"/>
              <a:t>최솟값을 구하고</a:t>
            </a:r>
            <a:r>
              <a:rPr lang="en-US" altLang="ko-KR" dirty="0"/>
              <a:t>, </a:t>
            </a:r>
            <a:r>
              <a:rPr lang="ko-KR" altLang="en-US" dirty="0"/>
              <a:t>그 차를 출력하는 프로그램을 작성합시다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※ max</a:t>
            </a:r>
            <a:r>
              <a:rPr lang="ko-KR" altLang="en-US" dirty="0"/>
              <a:t>와 </a:t>
            </a:r>
            <a:r>
              <a:rPr lang="en-US" altLang="ko-KR" dirty="0"/>
              <a:t>min </a:t>
            </a:r>
            <a:r>
              <a:rPr lang="ko-KR" altLang="en-US" dirty="0"/>
              <a:t>함수를 사용한다면 쉽게 해결할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※ max</a:t>
            </a:r>
            <a:r>
              <a:rPr lang="ko-KR" altLang="en-US" dirty="0"/>
              <a:t>와 </a:t>
            </a:r>
            <a:r>
              <a:rPr lang="en-US" altLang="ko-KR" dirty="0"/>
              <a:t>min </a:t>
            </a:r>
            <a:r>
              <a:rPr lang="ko-KR" altLang="en-US" dirty="0"/>
              <a:t>함수를 직접 구현을 해보는 것도 많은 도움이 될 것입니다</a:t>
            </a:r>
            <a:r>
              <a:rPr lang="en-US" altLang="ko-KR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04.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최댓값과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최솟값의 차이 구하기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15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04.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최댓값과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최솟값의 차이 구하기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088" y="1081087"/>
            <a:ext cx="5363824" cy="526766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898554" y="1409503"/>
            <a:ext cx="4394892" cy="1450075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smtClean="0"/>
              <a:t>리스트 </a:t>
            </a:r>
            <a:r>
              <a:rPr lang="en-US" altLang="ko-KR" sz="2000" dirty="0" smtClean="0"/>
              <a:t>L </a:t>
            </a:r>
            <a:r>
              <a:rPr lang="ko-KR" altLang="en-US" sz="2000" dirty="0" smtClean="0"/>
              <a:t>내의 가장 큰 원소를 반환</a:t>
            </a:r>
            <a:endParaRPr lang="en-US" altLang="ko-KR" sz="2000" dirty="0" smtClean="0"/>
          </a:p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898554" y="3399016"/>
            <a:ext cx="4394892" cy="1450075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smtClean="0"/>
              <a:t>리스트 </a:t>
            </a:r>
            <a:r>
              <a:rPr lang="en-US" altLang="ko-KR" sz="2000" dirty="0" smtClean="0"/>
              <a:t>L </a:t>
            </a:r>
            <a:r>
              <a:rPr lang="ko-KR" altLang="en-US" sz="2000" dirty="0" smtClean="0"/>
              <a:t>내의 가장 작은 원소를 반환</a:t>
            </a:r>
            <a:endParaRPr lang="en-US" altLang="ko-KR" sz="2000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525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2486025"/>
            <a:ext cx="8067675" cy="188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04.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최댓값과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최솟값의 차이 구하기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50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97140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테스트 케이스만큼 리스트를 입력 받아서 이를 정렬해서 </a:t>
            </a:r>
            <a:r>
              <a:rPr lang="ko-KR" altLang="en-US" b="1" dirty="0"/>
              <a:t>내림차순으로 출력</a:t>
            </a:r>
            <a:r>
              <a:rPr lang="ko-KR" altLang="en-US" dirty="0"/>
              <a:t>하는 프로그램을 작성하세요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※ sort() </a:t>
            </a:r>
            <a:r>
              <a:rPr lang="ko-KR" altLang="en-US" dirty="0"/>
              <a:t>함수를 사용한다면 쉽게 해결할 수 있습니다</a:t>
            </a:r>
            <a:r>
              <a:rPr lang="en-US" altLang="ko-KR" dirty="0"/>
              <a:t>. </a:t>
            </a:r>
            <a:r>
              <a:rPr lang="en-US" altLang="ko-KR" b="1" dirty="0"/>
              <a:t>[O(n log n)]</a:t>
            </a:r>
          </a:p>
          <a:p>
            <a:r>
              <a:rPr lang="en-US" altLang="ko-KR" dirty="0"/>
              <a:t>※ sort() </a:t>
            </a:r>
            <a:r>
              <a:rPr lang="ko-KR" altLang="en-US" dirty="0"/>
              <a:t>함수를 쓰지 않고 구현을 해보는 것도 많은 도움이 될 것입니다</a:t>
            </a:r>
            <a:r>
              <a:rPr lang="en-US" altLang="ko-KR" dirty="0"/>
              <a:t>. </a:t>
            </a:r>
            <a:r>
              <a:rPr lang="en-US" altLang="ko-KR" b="1" dirty="0"/>
              <a:t>[O(n</a:t>
            </a:r>
            <a:r>
              <a:rPr lang="en-US" altLang="ko-KR" b="1" baseline="30000" dirty="0"/>
              <a:t>2</a:t>
            </a:r>
            <a:r>
              <a:rPr lang="en-US" altLang="ko-KR" b="1" dirty="0"/>
              <a:t>)</a:t>
            </a:r>
            <a:r>
              <a:rPr lang="ko-KR" altLang="en-US" b="1" dirty="0"/>
              <a:t>도 가능</a:t>
            </a:r>
            <a:r>
              <a:rPr lang="en-US" altLang="ko-KR" b="1" dirty="0"/>
              <a:t>]</a:t>
            </a:r>
          </a:p>
          <a:p>
            <a:endParaRPr lang="en-US" altLang="ko-KR" dirty="0"/>
          </a:p>
          <a:p>
            <a:r>
              <a:rPr lang="en-US" altLang="ko-KR" dirty="0" err="1"/>
              <a:t>L.sort</a:t>
            </a:r>
            <a:r>
              <a:rPr lang="en-US" altLang="ko-KR" dirty="0"/>
              <a:t>(): </a:t>
            </a:r>
            <a:r>
              <a:rPr lang="ko-KR" altLang="en-US" dirty="0"/>
              <a:t>타입이 리스트인 </a:t>
            </a:r>
            <a:r>
              <a:rPr lang="en-US" altLang="ko-KR" dirty="0"/>
              <a:t>L</a:t>
            </a:r>
            <a:r>
              <a:rPr lang="ko-KR" altLang="en-US" dirty="0"/>
              <a:t>을 오름차순으로 정렬해주는 함수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 err="1"/>
              <a:t>L.sort</a:t>
            </a:r>
            <a:r>
              <a:rPr lang="en-US" altLang="ko-KR" dirty="0"/>
              <a:t>(key=f): </a:t>
            </a:r>
            <a:r>
              <a:rPr lang="ko-KR" altLang="en-US" dirty="0"/>
              <a:t>정렬할 때 원소 </a:t>
            </a:r>
            <a:r>
              <a:rPr lang="en-US" altLang="ko-KR" dirty="0"/>
              <a:t>x</a:t>
            </a:r>
            <a:r>
              <a:rPr lang="ko-KR" altLang="en-US" dirty="0"/>
              <a:t>를 </a:t>
            </a:r>
            <a:r>
              <a:rPr lang="en-US" altLang="ko-KR" dirty="0"/>
              <a:t>f(x) </a:t>
            </a:r>
            <a:r>
              <a:rPr lang="ko-KR" altLang="en-US" dirty="0"/>
              <a:t>기준으로 정렬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L.sort</a:t>
            </a:r>
            <a:r>
              <a:rPr lang="en-US" altLang="ko-KR" dirty="0"/>
              <a:t>(reverse = True): </a:t>
            </a:r>
            <a:r>
              <a:rPr lang="ko-KR" altLang="en-US" dirty="0"/>
              <a:t>내림차순으로 정렬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Ex&gt; </a:t>
            </a:r>
            <a:r>
              <a:rPr lang="en-US" altLang="ko-KR" dirty="0" err="1"/>
              <a:t>L.sort</a:t>
            </a:r>
            <a:r>
              <a:rPr lang="en-US" altLang="ko-KR" dirty="0"/>
              <a:t>(key = lambda x: x[1]), </a:t>
            </a:r>
            <a:r>
              <a:rPr lang="en-US" altLang="ko-KR" dirty="0" err="1"/>
              <a:t>L.sort</a:t>
            </a:r>
            <a:r>
              <a:rPr lang="en-US" altLang="ko-KR" dirty="0"/>
              <a:t>(key = </a:t>
            </a:r>
            <a:r>
              <a:rPr lang="en-US" altLang="ko-KR" dirty="0" err="1"/>
              <a:t>func</a:t>
            </a:r>
            <a:r>
              <a:rPr lang="en-US" altLang="ko-KR" dirty="0"/>
              <a:t>, reverse = True)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※ </a:t>
            </a:r>
            <a:r>
              <a:rPr lang="ko-KR" altLang="en-US" dirty="0"/>
              <a:t>출력 시에 리스트 그대로가 아닌 공백을 두고 데이터가 출력되게 해야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print(*L) </a:t>
            </a:r>
            <a:r>
              <a:rPr lang="ko-KR" altLang="en-US" dirty="0"/>
              <a:t>처럼</a:t>
            </a:r>
            <a:r>
              <a:rPr lang="en-US" altLang="ko-KR" dirty="0"/>
              <a:t>, </a:t>
            </a:r>
            <a:r>
              <a:rPr lang="ko-KR" altLang="en-US" dirty="0"/>
              <a:t>리스트에 </a:t>
            </a:r>
            <a:r>
              <a:rPr lang="en-US" altLang="ko-KR" dirty="0"/>
              <a:t>*</a:t>
            </a:r>
            <a:r>
              <a:rPr lang="ko-KR" altLang="en-US" dirty="0"/>
              <a:t>을 붙이면 공백을 두고 출력하게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print(L)       </a:t>
            </a:r>
            <a:r>
              <a:rPr lang="en-US" altLang="ko-KR" dirty="0">
                <a:sym typeface="Wingdings" panose="05000000000000000000" pitchFamily="2" charset="2"/>
              </a:rPr>
              <a:t>      [8, 5, 4, 3, 1]</a:t>
            </a:r>
          </a:p>
          <a:p>
            <a:r>
              <a:rPr lang="en-US" altLang="ko-KR" dirty="0"/>
              <a:t>print(*L)      </a:t>
            </a:r>
            <a:r>
              <a:rPr lang="en-US" altLang="ko-KR" dirty="0">
                <a:sym typeface="Wingdings" panose="05000000000000000000" pitchFamily="2" charset="2"/>
              </a:rPr>
              <a:t>      8 5 4 3 1</a:t>
            </a:r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05.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정렬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88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05.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정렬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984" y="1519517"/>
            <a:ext cx="9932032" cy="260873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094692" y="3108070"/>
            <a:ext cx="8379344" cy="474715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err="1" smtClean="0"/>
              <a:t>정렬함수</a:t>
            </a:r>
            <a:r>
              <a:rPr lang="ko-KR" altLang="en-US" sz="2000" dirty="0" smtClean="0"/>
              <a:t>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845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05.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정렬</a:t>
            </a:r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</a:rPr>
              <a:t>Quicksort)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306" y="1006058"/>
            <a:ext cx="5767388" cy="546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6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97140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테스트 케이스만큼 리스트를 입력 받고</a:t>
            </a:r>
            <a:r>
              <a:rPr lang="en-US" altLang="ko-KR" dirty="0"/>
              <a:t>, </a:t>
            </a:r>
            <a:r>
              <a:rPr lang="ko-KR" altLang="en-US" dirty="0"/>
              <a:t>두 번째 리스트를 하나를 더 입력 받습니다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 리스트 내에 있는 각각의 숫자에 대해서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첫 번째 리스트에 그 숫자가 들어있다면 </a:t>
            </a:r>
            <a:r>
              <a:rPr lang="en-US" altLang="ko-KR" dirty="0"/>
              <a:t>YES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첫 번째 리스트에 그 숫자가 없다면 </a:t>
            </a:r>
            <a:r>
              <a:rPr lang="en-US" altLang="ko-KR" dirty="0"/>
              <a:t>NO</a:t>
            </a:r>
          </a:p>
          <a:p>
            <a:r>
              <a:rPr lang="ko-KR" altLang="en-US" dirty="0" err="1"/>
              <a:t>를</a:t>
            </a:r>
            <a:r>
              <a:rPr lang="ko-KR" altLang="en-US" dirty="0"/>
              <a:t> 출력하는 프로그램을 작성하세요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※ </a:t>
            </a:r>
            <a:r>
              <a:rPr lang="ko-KR" altLang="en-US" dirty="0" err="1"/>
              <a:t>조건문에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을 쓴다면 쉽게 해결할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※ </a:t>
            </a:r>
            <a:r>
              <a:rPr lang="ko-KR" altLang="en-US" dirty="0" err="1"/>
              <a:t>조건문</a:t>
            </a:r>
            <a:r>
              <a:rPr lang="ko-KR" altLang="en-US" dirty="0"/>
              <a:t> 부분에 </a:t>
            </a:r>
            <a:r>
              <a:rPr lang="en-US" altLang="ko-KR" dirty="0"/>
              <a:t>in</a:t>
            </a:r>
            <a:r>
              <a:rPr lang="ko-KR" altLang="en-US" dirty="0"/>
              <a:t>을 쓰지 않고 구현을 해보는 것도 많은 도움이 될 것입니다</a:t>
            </a:r>
            <a:r>
              <a:rPr lang="en-US" altLang="ko-KR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06.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탐색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12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06.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탐색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21" y="1169893"/>
            <a:ext cx="7505758" cy="462579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563572" y="4043452"/>
            <a:ext cx="4080895" cy="474715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 smtClean="0"/>
              <a:t>YES</a:t>
            </a:r>
            <a:r>
              <a:rPr lang="ko-KR" altLang="en-US" sz="2000" dirty="0" smtClean="0"/>
              <a:t>를 추가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563572" y="4919567"/>
            <a:ext cx="4080895" cy="474715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 smtClean="0"/>
              <a:t>NO</a:t>
            </a:r>
            <a:r>
              <a:rPr lang="ko-KR" altLang="en-US" sz="2000" dirty="0" smtClean="0"/>
              <a:t>를 추가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047999" y="3175149"/>
            <a:ext cx="6620933" cy="2099584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 smtClean="0"/>
              <a:t>L2</a:t>
            </a:r>
            <a:r>
              <a:rPr lang="ko-KR" altLang="en-US" sz="2000" dirty="0" smtClean="0"/>
              <a:t>의 각 원소에 대해 </a:t>
            </a:r>
            <a:r>
              <a:rPr lang="en-US" altLang="ko-KR" sz="2000" dirty="0" smtClean="0"/>
              <a:t>:</a:t>
            </a:r>
          </a:p>
          <a:p>
            <a:r>
              <a:rPr lang="en-US" altLang="ko-KR" sz="2000" dirty="0"/>
              <a:t>	</a:t>
            </a:r>
            <a:r>
              <a:rPr lang="ko-KR" altLang="en-US" sz="2000" dirty="0" smtClean="0"/>
              <a:t>해당 원소가 </a:t>
            </a:r>
            <a:r>
              <a:rPr lang="en-US" altLang="ko-KR" sz="2000" dirty="0" smtClean="0"/>
              <a:t>l1</a:t>
            </a:r>
            <a:r>
              <a:rPr lang="ko-KR" altLang="en-US" sz="2000" dirty="0" smtClean="0"/>
              <a:t>에 있다면 </a:t>
            </a:r>
            <a:r>
              <a:rPr lang="en-US" altLang="ko-KR" sz="2000" dirty="0" smtClean="0"/>
              <a:t>:</a:t>
            </a:r>
          </a:p>
          <a:p>
            <a:r>
              <a:rPr lang="en-US" altLang="ko-KR" sz="2000" dirty="0"/>
              <a:t>	</a:t>
            </a:r>
            <a:r>
              <a:rPr lang="en-US" altLang="ko-KR" sz="2000" dirty="0" smtClean="0"/>
              <a:t>	result</a:t>
            </a:r>
            <a:r>
              <a:rPr lang="ko-KR" altLang="en-US" sz="2000" dirty="0" smtClean="0"/>
              <a:t>에 </a:t>
            </a:r>
            <a:r>
              <a:rPr lang="en-US" altLang="ko-KR" sz="2000" dirty="0" smtClean="0"/>
              <a:t>YES</a:t>
            </a:r>
            <a:r>
              <a:rPr lang="ko-KR" altLang="en-US" sz="2000" dirty="0" smtClean="0"/>
              <a:t>를 추가</a:t>
            </a:r>
            <a:endParaRPr lang="en-US" altLang="ko-KR" sz="2000" dirty="0" smtClean="0"/>
          </a:p>
          <a:p>
            <a:r>
              <a:rPr lang="en-US" altLang="ko-KR" sz="2000" dirty="0" smtClean="0"/>
              <a:t>	</a:t>
            </a:r>
            <a:r>
              <a:rPr lang="ko-KR" altLang="en-US" sz="2000" dirty="0" smtClean="0"/>
              <a:t>아니라면 </a:t>
            </a:r>
            <a:r>
              <a:rPr lang="en-US" altLang="ko-KR" sz="2000" dirty="0" smtClean="0"/>
              <a:t>:</a:t>
            </a:r>
          </a:p>
          <a:p>
            <a:r>
              <a:rPr lang="en-US" altLang="ko-KR" sz="2000" dirty="0"/>
              <a:t>	</a:t>
            </a:r>
            <a:r>
              <a:rPr lang="en-US" altLang="ko-KR" sz="2000" dirty="0" smtClean="0"/>
              <a:t>	result</a:t>
            </a:r>
            <a:r>
              <a:rPr lang="ko-KR" altLang="en-US" sz="2000" dirty="0" smtClean="0"/>
              <a:t>에 </a:t>
            </a:r>
            <a:r>
              <a:rPr lang="en-US" altLang="ko-KR" sz="2000" dirty="0" smtClean="0"/>
              <a:t>NO</a:t>
            </a:r>
            <a:r>
              <a:rPr lang="ko-KR" altLang="en-US" sz="2000" dirty="0" smtClean="0"/>
              <a:t>를 추가</a:t>
            </a:r>
            <a:endParaRPr lang="en-US" altLang="ko-KR" sz="2000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381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06.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탐색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362" y="944591"/>
            <a:ext cx="56292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5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97140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조건 문에 있는 </a:t>
            </a:r>
            <a:r>
              <a:rPr lang="en-US" altLang="ko-KR" dirty="0"/>
              <a:t>in</a:t>
            </a:r>
            <a:r>
              <a:rPr lang="ko-KR" altLang="en-US" dirty="0"/>
              <a:t>의 함정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탐색을 </a:t>
            </a:r>
            <a:r>
              <a:rPr lang="en-US" altLang="ko-KR" dirty="0">
                <a:sym typeface="Wingdings" panose="05000000000000000000" pitchFamily="2" charset="2"/>
              </a:rPr>
              <a:t>Linear Time</a:t>
            </a:r>
            <a:r>
              <a:rPr lang="ko-KR" altLang="en-US" dirty="0">
                <a:sym typeface="Wingdings" panose="05000000000000000000" pitchFamily="2" charset="2"/>
              </a:rPr>
              <a:t>보다 잘해야 한다면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위의 구문은 사용하면 안 됩니다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06.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탐색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40376" y="1650167"/>
            <a:ext cx="4934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l1 = [ 1 , 9 , 4 , 2 , 5 , 5 , 100 , 19 , 2 , 7 ]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050" y="1834833"/>
            <a:ext cx="2733675" cy="628650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6115987" y="2019499"/>
            <a:ext cx="3934918" cy="7409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Linear Search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670092" y="3472478"/>
            <a:ext cx="4851816" cy="439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※ </a:t>
            </a:r>
            <a:r>
              <a:rPr lang="ko-KR" altLang="en-US" dirty="0">
                <a:solidFill>
                  <a:sysClr val="windowText" lastClr="000000"/>
                </a:solidFill>
              </a:rPr>
              <a:t>리스트와 비교할만한 다른 타입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966" y="3862927"/>
            <a:ext cx="4302615" cy="1423257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42" y="3912093"/>
            <a:ext cx="5305598" cy="1374091"/>
          </a:xfrm>
          <a:prstGeom prst="rect">
            <a:avLst/>
          </a:prstGeom>
        </p:spPr>
      </p:pic>
      <p:graphicFrame>
        <p:nvGraphicFramePr>
          <p:cNvPr id="58" name="표 57"/>
          <p:cNvGraphicFramePr>
            <a:graphicFrameLocks noGrp="1"/>
          </p:cNvGraphicFramePr>
          <p:nvPr>
            <p:extLst/>
          </p:nvPr>
        </p:nvGraphicFramePr>
        <p:xfrm>
          <a:off x="2032000" y="5381819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310768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173500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99664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List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Dictionary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7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중복 </a:t>
                      </a:r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중복 허용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 값 중복 </a:t>
                      </a:r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08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Average</a:t>
                      </a:r>
                      <a:r>
                        <a:rPr lang="en-US" altLang="ko-KR" baseline="0" dirty="0"/>
                        <a:t> O(1)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O(n)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Average O(1)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895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89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가장 기본적이고 중요한 자료 구조인 스택을 구현합니다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*</a:t>
            </a:r>
            <a:r>
              <a:rPr lang="en-US" altLang="ko-KR" dirty="0"/>
              <a:t> </a:t>
            </a:r>
            <a:r>
              <a:rPr lang="en-US" altLang="ko-KR" dirty="0" smtClean="0"/>
              <a:t>Hint: list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pop() </a:t>
            </a:r>
            <a:r>
              <a:rPr lang="ko-KR" altLang="en-US" dirty="0" smtClean="0"/>
              <a:t>함수를 사용합시다</a:t>
            </a:r>
            <a:r>
              <a:rPr lang="en-US" altLang="ko-KR" dirty="0" smtClean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07.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스택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구현하기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>
            <a:off x="2554760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876047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2876047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1957901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오른쪽 화살표 3"/>
          <p:cNvSpPr/>
          <p:nvPr/>
        </p:nvSpPr>
        <p:spPr>
          <a:xfrm rot="1800000">
            <a:off x="2561241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731499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push</a:t>
            </a:r>
            <a:endParaRPr lang="ko-KR" altLang="en-US" dirty="0"/>
          </a:p>
        </p:txBody>
      </p:sp>
      <p:sp>
        <p:nvSpPr>
          <p:cNvPr id="10" name="원통 9"/>
          <p:cNvSpPr/>
          <p:nvPr/>
        </p:nvSpPr>
        <p:spPr>
          <a:xfrm>
            <a:off x="4807719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129006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5129006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4221204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 rot="1800000">
            <a:off x="4824544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994802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push</a:t>
            </a:r>
            <a:endParaRPr lang="ko-KR" altLang="en-US" dirty="0"/>
          </a:p>
        </p:txBody>
      </p:sp>
      <p:sp>
        <p:nvSpPr>
          <p:cNvPr id="17" name="원통 16"/>
          <p:cNvSpPr/>
          <p:nvPr/>
        </p:nvSpPr>
        <p:spPr>
          <a:xfrm>
            <a:off x="9434377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9755664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9" name="타원 18"/>
          <p:cNvSpPr/>
          <p:nvPr/>
        </p:nvSpPr>
        <p:spPr>
          <a:xfrm>
            <a:off x="9755664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10694396" y="259084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1" name="오른쪽 화살표 20"/>
          <p:cNvSpPr/>
          <p:nvPr/>
        </p:nvSpPr>
        <p:spPr>
          <a:xfrm rot="19800000">
            <a:off x="10074675" y="2917516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9755663" y="25769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pop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5129006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4" name="타원 23"/>
          <p:cNvSpPr/>
          <p:nvPr/>
        </p:nvSpPr>
        <p:spPr>
          <a:xfrm>
            <a:off x="9755664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5" name="원통 24"/>
          <p:cNvSpPr/>
          <p:nvPr/>
        </p:nvSpPr>
        <p:spPr>
          <a:xfrm>
            <a:off x="7121048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442335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7" name="타원 26"/>
          <p:cNvSpPr/>
          <p:nvPr/>
        </p:nvSpPr>
        <p:spPr>
          <a:xfrm>
            <a:off x="7442335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28" name="타원 27"/>
          <p:cNvSpPr/>
          <p:nvPr/>
        </p:nvSpPr>
        <p:spPr>
          <a:xfrm>
            <a:off x="7442335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9" name="타원 28"/>
          <p:cNvSpPr/>
          <p:nvPr/>
        </p:nvSpPr>
        <p:spPr>
          <a:xfrm>
            <a:off x="7442335" y="3647468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9" name="아래쪽 화살표 8"/>
          <p:cNvSpPr/>
          <p:nvPr/>
        </p:nvSpPr>
        <p:spPr>
          <a:xfrm rot="16200000">
            <a:off x="3376546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아래쪽 화살표 29"/>
          <p:cNvSpPr/>
          <p:nvPr/>
        </p:nvSpPr>
        <p:spPr>
          <a:xfrm rot="16200000">
            <a:off x="5659690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아래쪽 화살표 30"/>
          <p:cNvSpPr/>
          <p:nvPr/>
        </p:nvSpPr>
        <p:spPr>
          <a:xfrm rot="16200000">
            <a:off x="7973019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77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944591"/>
            <a:ext cx="7648575" cy="55911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07.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스택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구현하기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645468" y="4998720"/>
            <a:ext cx="4274818" cy="462280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Pop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493068" y="5989320"/>
            <a:ext cx="4274818" cy="546446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Push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749040" y="3017520"/>
            <a:ext cx="6171246" cy="3518246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빈 스택을 선언하고</a:t>
            </a:r>
            <a:r>
              <a:rPr lang="en-US" altLang="ko-KR" dirty="0" smtClean="0"/>
              <a:t>, n</a:t>
            </a:r>
            <a:r>
              <a:rPr lang="ko-KR" altLang="en-US" dirty="0" smtClean="0"/>
              <a:t>개의 명령어를 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50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큐를 </a:t>
            </a:r>
            <a:r>
              <a:rPr lang="ko-KR" altLang="en-US" dirty="0" smtClean="0"/>
              <a:t>구현합니다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08.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큐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구현하기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 rot="16200000">
            <a:off x="3547215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509383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4459200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1393789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314418" y="3268392"/>
            <a:ext cx="1229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Push</a:t>
            </a:r>
          </a:p>
          <a:p>
            <a:pPr algn="ctr"/>
            <a:r>
              <a:rPr lang="en-US" altLang="ko-KR" dirty="0" smtClean="0"/>
              <a:t>(</a:t>
            </a:r>
            <a:r>
              <a:rPr lang="en-US" altLang="ko-KR" dirty="0" err="1" smtClean="0"/>
              <a:t>Enqueue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7" name="오른쪽 화살표 16"/>
          <p:cNvSpPr/>
          <p:nvPr/>
        </p:nvSpPr>
        <p:spPr>
          <a:xfrm>
            <a:off x="1947578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원통 31"/>
          <p:cNvSpPr/>
          <p:nvPr/>
        </p:nvSpPr>
        <p:spPr>
          <a:xfrm rot="16200000">
            <a:off x="8883883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10430506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979586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35" name="타원 34"/>
          <p:cNvSpPr/>
          <p:nvPr/>
        </p:nvSpPr>
        <p:spPr>
          <a:xfrm>
            <a:off x="6730457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651086" y="3268392"/>
            <a:ext cx="1229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Push</a:t>
            </a:r>
          </a:p>
          <a:p>
            <a:pPr algn="ctr"/>
            <a:r>
              <a:rPr lang="en-US" altLang="ko-KR" dirty="0" smtClean="0"/>
              <a:t>(</a:t>
            </a:r>
            <a:r>
              <a:rPr lang="en-US" altLang="ko-KR" dirty="0" err="1" smtClean="0"/>
              <a:t>Enqueue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7" name="오른쪽 화살표 36"/>
          <p:cNvSpPr/>
          <p:nvPr/>
        </p:nvSpPr>
        <p:spPr>
          <a:xfrm>
            <a:off x="7284246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9164476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9" name="원통 38"/>
          <p:cNvSpPr/>
          <p:nvPr/>
        </p:nvSpPr>
        <p:spPr>
          <a:xfrm rot="16200000">
            <a:off x="7767085" y="3549715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10598292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2" name="타원 41"/>
          <p:cNvSpPr/>
          <p:nvPr/>
        </p:nvSpPr>
        <p:spPr>
          <a:xfrm>
            <a:off x="8050240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0222695" y="5416705"/>
            <a:ext cx="1266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Pop</a:t>
            </a:r>
          </a:p>
          <a:p>
            <a:pPr algn="ctr"/>
            <a:r>
              <a:rPr lang="en-US" altLang="ko-KR" dirty="0" smtClean="0"/>
              <a:t>(</a:t>
            </a:r>
            <a:r>
              <a:rPr lang="en-US" altLang="ko-KR" dirty="0" err="1" smtClean="0"/>
              <a:t>Dequeue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4" name="오른쪽 화살표 43"/>
          <p:cNvSpPr/>
          <p:nvPr/>
        </p:nvSpPr>
        <p:spPr>
          <a:xfrm>
            <a:off x="9999725" y="4966502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868086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6" name="원통 45"/>
          <p:cNvSpPr/>
          <p:nvPr/>
        </p:nvSpPr>
        <p:spPr>
          <a:xfrm rot="16200000">
            <a:off x="3547215" y="3549715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509383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8" name="타원 47"/>
          <p:cNvSpPr/>
          <p:nvPr/>
        </p:nvSpPr>
        <p:spPr>
          <a:xfrm>
            <a:off x="4459200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52" name="타원 51"/>
          <p:cNvSpPr/>
          <p:nvPr/>
        </p:nvSpPr>
        <p:spPr>
          <a:xfrm>
            <a:off x="382780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53" name="타원 52"/>
          <p:cNvSpPr/>
          <p:nvPr/>
        </p:nvSpPr>
        <p:spPr>
          <a:xfrm>
            <a:off x="319767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54" name="타원 53"/>
          <p:cNvSpPr/>
          <p:nvPr/>
        </p:nvSpPr>
        <p:spPr>
          <a:xfrm>
            <a:off x="9312260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3" name="아래쪽 화살표 2"/>
          <p:cNvSpPr/>
          <p:nvPr/>
        </p:nvSpPr>
        <p:spPr>
          <a:xfrm rot="16200000">
            <a:off x="5688142" y="2731449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아래쪽 화살표 56"/>
          <p:cNvSpPr/>
          <p:nvPr/>
        </p:nvSpPr>
        <p:spPr>
          <a:xfrm rot="16200000">
            <a:off x="5688142" y="4879762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아래쪽 화살표 57"/>
          <p:cNvSpPr/>
          <p:nvPr/>
        </p:nvSpPr>
        <p:spPr>
          <a:xfrm rot="2700000">
            <a:off x="5688142" y="3803820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89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08.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큐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구현하기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056" y="1318759"/>
            <a:ext cx="6465888" cy="481295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473699" y="4959599"/>
            <a:ext cx="3855245" cy="450601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Pop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473699" y="5672800"/>
            <a:ext cx="3855245" cy="458913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Push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038600" y="3505200"/>
            <a:ext cx="5290344" cy="2626513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빈 큐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deque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선언하고</a:t>
            </a:r>
            <a:r>
              <a:rPr lang="en-US" altLang="ko-KR" dirty="0" smtClean="0"/>
              <a:t>, n</a:t>
            </a:r>
            <a:r>
              <a:rPr lang="ko-KR" altLang="en-US" dirty="0" smtClean="0"/>
              <a:t>개의 명령어를 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85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72874"/>
            <a:ext cx="101872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 중 하나인 우선순위 큐를 사용합니다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en-US" altLang="ko-KR" dirty="0" err="1"/>
              <a:t>heapq</a:t>
            </a:r>
            <a:r>
              <a:rPr lang="ko-KR" altLang="en-US" dirty="0"/>
              <a:t>를 이용해 보도록 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* </a:t>
            </a:r>
            <a:r>
              <a:rPr lang="ko-KR" altLang="en-US" dirty="0"/>
              <a:t>주의</a:t>
            </a:r>
            <a:r>
              <a:rPr lang="en-US" altLang="ko-KR" dirty="0"/>
              <a:t>: </a:t>
            </a:r>
            <a:r>
              <a:rPr lang="ko-KR" altLang="en-US" dirty="0"/>
              <a:t>일반적으로 숫자가 작을수록 우선순위가 높다고 표현합니다</a:t>
            </a:r>
            <a:r>
              <a:rPr lang="en-US" altLang="ko-KR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09.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우선순위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큐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구현하기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341689" y="3761869"/>
            <a:ext cx="2192143" cy="21223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오른쪽 화살표 60"/>
          <p:cNvSpPr/>
          <p:nvPr/>
        </p:nvSpPr>
        <p:spPr>
          <a:xfrm>
            <a:off x="4843583" y="4510934"/>
            <a:ext cx="518746" cy="62425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오른쪽 화살표 61"/>
          <p:cNvSpPr/>
          <p:nvPr/>
        </p:nvSpPr>
        <p:spPr>
          <a:xfrm>
            <a:off x="8173974" y="4508912"/>
            <a:ext cx="518746" cy="62425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5672080" y="3761868"/>
            <a:ext cx="2192143" cy="21223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모서리가 둥근 직사각형 69"/>
          <p:cNvSpPr/>
          <p:nvPr/>
        </p:nvSpPr>
        <p:spPr>
          <a:xfrm>
            <a:off x="9002471" y="3761868"/>
            <a:ext cx="2192143" cy="21223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오른쪽 화살표 74"/>
          <p:cNvSpPr/>
          <p:nvPr/>
        </p:nvSpPr>
        <p:spPr>
          <a:xfrm rot="2198643">
            <a:off x="1971446" y="3108134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/>
          <p:cNvSpPr/>
          <p:nvPr/>
        </p:nvSpPr>
        <p:spPr>
          <a:xfrm>
            <a:off x="1452375" y="251429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8" name="타원 77"/>
          <p:cNvSpPr/>
          <p:nvPr/>
        </p:nvSpPr>
        <p:spPr>
          <a:xfrm>
            <a:off x="2626505" y="416068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9" name="타원 78"/>
          <p:cNvSpPr/>
          <p:nvPr/>
        </p:nvSpPr>
        <p:spPr>
          <a:xfrm>
            <a:off x="3624618" y="479960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0" name="타원 79"/>
          <p:cNvSpPr/>
          <p:nvPr/>
        </p:nvSpPr>
        <p:spPr>
          <a:xfrm>
            <a:off x="2799367" y="505735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39994" y="2899611"/>
            <a:ext cx="23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heapq.heappush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81" name="타원 80"/>
          <p:cNvSpPr/>
          <p:nvPr/>
        </p:nvSpPr>
        <p:spPr>
          <a:xfrm>
            <a:off x="5849931" y="416068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2" name="타원 81"/>
          <p:cNvSpPr/>
          <p:nvPr/>
        </p:nvSpPr>
        <p:spPr>
          <a:xfrm>
            <a:off x="6848044" y="479960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3" name="타원 82"/>
          <p:cNvSpPr/>
          <p:nvPr/>
        </p:nvSpPr>
        <p:spPr>
          <a:xfrm>
            <a:off x="6022793" y="505735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84" name="타원 83"/>
          <p:cNvSpPr/>
          <p:nvPr/>
        </p:nvSpPr>
        <p:spPr>
          <a:xfrm>
            <a:off x="6831600" y="398783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9018372" y="2899611"/>
            <a:ext cx="23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heapq.heappop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86" name="타원 85"/>
          <p:cNvSpPr/>
          <p:nvPr/>
        </p:nvSpPr>
        <p:spPr>
          <a:xfrm>
            <a:off x="11535105" y="266702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7" name="오른쪽 화살표 86"/>
          <p:cNvSpPr/>
          <p:nvPr/>
        </p:nvSpPr>
        <p:spPr>
          <a:xfrm rot="19800000">
            <a:off x="10915384" y="2993695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/>
          <p:cNvSpPr/>
          <p:nvPr/>
        </p:nvSpPr>
        <p:spPr>
          <a:xfrm>
            <a:off x="10150706" y="479960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94" name="타원 93"/>
          <p:cNvSpPr/>
          <p:nvPr/>
        </p:nvSpPr>
        <p:spPr>
          <a:xfrm>
            <a:off x="9325455" y="505735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95" name="타원 94"/>
          <p:cNvSpPr/>
          <p:nvPr/>
        </p:nvSpPr>
        <p:spPr>
          <a:xfrm>
            <a:off x="10134262" y="398783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03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1" y="1308264"/>
            <a:ext cx="6591298" cy="48520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09.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우선순위</a:t>
            </a:r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큐 구현하기</a:t>
            </a:r>
            <a:endParaRPr lang="en-US" altLang="ko-KR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234781" y="4999962"/>
            <a:ext cx="4156868" cy="394988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Pop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34782" y="5701375"/>
            <a:ext cx="3985418" cy="458913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Push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29855" y="3533775"/>
            <a:ext cx="5461794" cy="2626513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빈 우선순위 큐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heapq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선언하고</a:t>
            </a:r>
            <a:r>
              <a:rPr lang="en-US" altLang="ko-KR" dirty="0" smtClean="0"/>
              <a:t>, n</a:t>
            </a:r>
            <a:r>
              <a:rPr lang="ko-KR" altLang="en-US" dirty="0" smtClean="0"/>
              <a:t>개의 명령어를 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957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첫 번째 바퀴를 완주한 순서와 두 번째 바퀴를 완주한 순서가 같은지 체크해봅니다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숫자의 개수는 </a:t>
            </a:r>
            <a:r>
              <a:rPr lang="en-US" altLang="ko-KR" b="1" dirty="0"/>
              <a:t>20</a:t>
            </a:r>
            <a:r>
              <a:rPr lang="ko-KR" altLang="en-US" b="1" dirty="0"/>
              <a:t>만개</a:t>
            </a:r>
            <a:r>
              <a:rPr lang="ko-KR" altLang="en-US" dirty="0"/>
              <a:t>를 넘지 않습니다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입력 데이터 내에서 </a:t>
            </a:r>
            <a:r>
              <a:rPr lang="ko-KR" altLang="en-US" b="1" dirty="0"/>
              <a:t>하나의 숫자는 반드시 두 번만</a:t>
            </a:r>
            <a:r>
              <a:rPr lang="ko-KR" altLang="en-US" dirty="0"/>
              <a:t> 나타납니다</a:t>
            </a:r>
            <a:r>
              <a:rPr lang="en-US" altLang="ko-KR" dirty="0"/>
              <a:t>. (</a:t>
            </a:r>
            <a:r>
              <a:rPr lang="ko-KR" altLang="en-US" dirty="0"/>
              <a:t>다른 예외 고려 </a:t>
            </a:r>
            <a:r>
              <a:rPr lang="en-US" altLang="ko-KR" dirty="0"/>
              <a:t>X)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힌트 </a:t>
            </a:r>
            <a:r>
              <a:rPr lang="en-US" altLang="ko-KR" dirty="0"/>
              <a:t>: </a:t>
            </a:r>
            <a:r>
              <a:rPr lang="ko-KR" altLang="en-US" dirty="0"/>
              <a:t>큐를 이용합니다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</a:t>
            </a:r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778625" y="3509477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2622850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3" name="오른쪽 화살표 2"/>
          <p:cNvSpPr/>
          <p:nvPr/>
        </p:nvSpPr>
        <p:spPr>
          <a:xfrm>
            <a:off x="9589168" y="3509477"/>
            <a:ext cx="517358" cy="5857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>
            <a:off x="9589168" y="2622849"/>
            <a:ext cx="517358" cy="5857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106526" y="2731063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NO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106526" y="361769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137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도는 차는 </a:t>
            </a:r>
            <a:r>
              <a:rPr lang="en-US" altLang="ko-KR" dirty="0"/>
              <a:t>queue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두 번째 바퀴를 도는 차는 </a:t>
            </a:r>
            <a:r>
              <a:rPr lang="en-US" altLang="ko-KR" dirty="0"/>
              <a:t>pop</a:t>
            </a:r>
            <a:r>
              <a:rPr lang="ko-KR" altLang="en-US" dirty="0"/>
              <a:t>을 하자 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199469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3824779"/>
            <a:ext cx="888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 ]</a:t>
            </a:r>
            <a:endParaRPr lang="ko-KR" altLang="en-US" b="1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2250091" y="280604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도는 차는 </a:t>
            </a:r>
            <a:r>
              <a:rPr lang="en-US" altLang="ko-KR" dirty="0"/>
              <a:t>queue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두 번째 바퀴를 도는 차는 </a:t>
            </a:r>
            <a:r>
              <a:rPr lang="en-US" altLang="ko-KR" dirty="0"/>
              <a:t>pop</a:t>
            </a:r>
            <a:r>
              <a:rPr lang="ko-KR" altLang="en-US" dirty="0"/>
              <a:t>을 하자 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199469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3824779"/>
            <a:ext cx="1532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1 5 2 </a:t>
            </a:r>
            <a:r>
              <a:rPr lang="en-US" altLang="ko-KR" b="1" dirty="0"/>
              <a:t>] </a:t>
            </a:r>
            <a:endParaRPr lang="ko-KR" altLang="en-US" b="1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4261772" y="280604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25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도는 차는 </a:t>
            </a:r>
            <a:r>
              <a:rPr lang="en-US" altLang="ko-KR" dirty="0"/>
              <a:t>queue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두 번째 바퀴를 도는 차는 </a:t>
            </a:r>
            <a:r>
              <a:rPr lang="en-US" altLang="ko-KR" dirty="0"/>
              <a:t>pop</a:t>
            </a:r>
            <a:r>
              <a:rPr lang="ko-KR" altLang="en-US" dirty="0"/>
              <a:t>을 하자 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199469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3824779"/>
            <a:ext cx="41344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5 2</a:t>
            </a:r>
            <a:r>
              <a:rPr lang="en-US" altLang="ko-KR" b="1" dirty="0"/>
              <a:t> ]</a:t>
            </a:r>
          </a:p>
          <a:p>
            <a:r>
              <a:rPr lang="ko-KR" altLang="en-US" dirty="0"/>
              <a:t>큐의 맨 첫번째 원소가 </a:t>
            </a:r>
            <a:r>
              <a:rPr lang="en-US" altLang="ko-KR" dirty="0"/>
              <a:t>1</a:t>
            </a:r>
            <a:r>
              <a:rPr lang="ko-KR" altLang="en-US" dirty="0"/>
              <a:t>이었으니 </a:t>
            </a:r>
            <a:r>
              <a:rPr lang="en-US" altLang="ko-KR" dirty="0"/>
              <a:t>pop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4921729" y="280604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0752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도는 차는 </a:t>
            </a:r>
            <a:r>
              <a:rPr lang="en-US" altLang="ko-KR" dirty="0"/>
              <a:t>queue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두 번째 바퀴를 도는 차는 </a:t>
            </a:r>
            <a:r>
              <a:rPr lang="en-US" altLang="ko-KR" dirty="0"/>
              <a:t>pop</a:t>
            </a:r>
            <a:r>
              <a:rPr lang="ko-KR" altLang="en-US" dirty="0"/>
              <a:t>을 하자 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199469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3824779"/>
            <a:ext cx="39036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2 </a:t>
            </a:r>
            <a:r>
              <a:rPr lang="en-US" altLang="ko-KR" b="1" dirty="0"/>
              <a:t>]</a:t>
            </a:r>
          </a:p>
          <a:p>
            <a:r>
              <a:rPr lang="ko-KR" altLang="en-US" dirty="0"/>
              <a:t>큐의 맨 첫번째 원소가 </a:t>
            </a:r>
            <a:r>
              <a:rPr lang="en-US" altLang="ko-KR" dirty="0"/>
              <a:t>5</a:t>
            </a:r>
            <a:r>
              <a:rPr lang="ko-KR" altLang="en-US" dirty="0"/>
              <a:t>였으니 </a:t>
            </a:r>
            <a:r>
              <a:rPr lang="en-US" altLang="ko-KR" dirty="0"/>
              <a:t>pop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5573736" y="280604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0826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도는 차는 </a:t>
            </a:r>
            <a:r>
              <a:rPr lang="en-US" altLang="ko-KR" dirty="0"/>
              <a:t>queue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두 번째 바퀴를 도는 차는 </a:t>
            </a:r>
            <a:r>
              <a:rPr lang="en-US" altLang="ko-KR" dirty="0"/>
              <a:t>pop</a:t>
            </a:r>
            <a:r>
              <a:rPr lang="ko-KR" altLang="en-US" dirty="0"/>
              <a:t>을 하자 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199469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3824779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2 3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6249598" y="280604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506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도는 차는 </a:t>
            </a:r>
            <a:r>
              <a:rPr lang="en-US" altLang="ko-KR" dirty="0"/>
              <a:t>queue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두 번째 바퀴를 도는 차는 </a:t>
            </a:r>
            <a:r>
              <a:rPr lang="en-US" altLang="ko-KR" dirty="0"/>
              <a:t>pop</a:t>
            </a:r>
            <a:r>
              <a:rPr lang="ko-KR" altLang="en-US" dirty="0"/>
              <a:t>을 하자 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199469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3824779"/>
            <a:ext cx="390363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3 </a:t>
            </a:r>
            <a:r>
              <a:rPr lang="en-US" altLang="ko-KR" b="1" dirty="0"/>
              <a:t>]</a:t>
            </a:r>
          </a:p>
          <a:p>
            <a:r>
              <a:rPr lang="ko-KR" altLang="en-US" dirty="0"/>
              <a:t>큐의 맨 첫번째 원소가 </a:t>
            </a:r>
            <a:r>
              <a:rPr lang="en-US" altLang="ko-KR" dirty="0"/>
              <a:t>2</a:t>
            </a:r>
            <a:r>
              <a:rPr lang="ko-KR" altLang="en-US" dirty="0"/>
              <a:t>였으니 </a:t>
            </a:r>
            <a:r>
              <a:rPr lang="en-US" altLang="ko-KR" dirty="0"/>
              <a:t>pop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6909556" y="280604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9480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도는 차는 </a:t>
            </a:r>
            <a:r>
              <a:rPr lang="en-US" altLang="ko-KR" dirty="0"/>
              <a:t>queue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두 번째 바퀴를 도는 차는 </a:t>
            </a:r>
            <a:r>
              <a:rPr lang="en-US" altLang="ko-KR" dirty="0"/>
              <a:t>pop</a:t>
            </a:r>
            <a:r>
              <a:rPr lang="ko-KR" altLang="en-US" dirty="0"/>
              <a:t>을 하자 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199469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3824779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3 4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7569515" y="280604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00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도는 차는 </a:t>
            </a:r>
            <a:r>
              <a:rPr lang="en-US" altLang="ko-KR" dirty="0"/>
              <a:t>queue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두 번째 바퀴를 도는 차는 </a:t>
            </a:r>
            <a:r>
              <a:rPr lang="en-US" altLang="ko-KR" dirty="0"/>
              <a:t>pop</a:t>
            </a:r>
            <a:r>
              <a:rPr lang="ko-KR" altLang="en-US" dirty="0"/>
              <a:t>을 하자 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199469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3824779"/>
            <a:ext cx="2071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 ]</a:t>
            </a:r>
          </a:p>
          <a:p>
            <a:r>
              <a:rPr lang="ko-KR" altLang="en-US" dirty="0"/>
              <a:t>순서대로 </a:t>
            </a:r>
            <a:r>
              <a:rPr lang="en-US" altLang="ko-KR" dirty="0"/>
              <a:t>3, 4 pop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8889430" y="280604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56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04703" y="1369938"/>
            <a:ext cx="92004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구현할 때 더 생각해야할 점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만약 큐가 비어 있다면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레이스에서 순서가 바뀌었다면 맨 마지막에는 어떤 상태일까</a:t>
            </a:r>
            <a:r>
              <a:rPr lang="en-US" altLang="ko-KR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94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67" y="1152512"/>
            <a:ext cx="6541558" cy="53551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두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바퀴 레이스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752653" y="4269766"/>
            <a:ext cx="5205080" cy="296200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	</a:t>
            </a:r>
            <a:r>
              <a:rPr lang="ko-KR" altLang="en-US" dirty="0" smtClean="0"/>
              <a:t>큐에 추가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752653" y="4773887"/>
            <a:ext cx="5323614" cy="296965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	</a:t>
            </a:r>
            <a:r>
              <a:rPr lang="ko-KR" altLang="en-US" dirty="0" smtClean="0"/>
              <a:t>큐에서 제거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047067" y="3964222"/>
            <a:ext cx="5096933" cy="1369777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큐가 비어있거나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큐의 첫 원소가 </a:t>
            </a:r>
            <a:r>
              <a:rPr lang="en-US" altLang="ko-KR" dirty="0" smtClean="0"/>
              <a:t>c</a:t>
            </a:r>
            <a:r>
              <a:rPr lang="ko-KR" altLang="en-US" dirty="0" smtClean="0"/>
              <a:t>가 아닌 경우</a:t>
            </a:r>
            <a:r>
              <a:rPr lang="en-US" altLang="ko-KR" dirty="0" smtClean="0"/>
              <a:t>:</a:t>
            </a:r>
          </a:p>
          <a:p>
            <a:r>
              <a:rPr lang="en-US" altLang="ko-KR" dirty="0"/>
              <a:t>	</a:t>
            </a:r>
            <a:r>
              <a:rPr lang="ko-KR" altLang="en-US" dirty="0" smtClean="0"/>
              <a:t>큐에 추가 </a:t>
            </a:r>
            <a:endParaRPr lang="en-US" altLang="ko-KR" dirty="0" smtClean="0"/>
          </a:p>
          <a:p>
            <a:r>
              <a:rPr lang="ko-KR" altLang="en-US" dirty="0" smtClean="0"/>
              <a:t>아닌 경우</a:t>
            </a:r>
            <a:r>
              <a:rPr lang="en-US" altLang="ko-KR" dirty="0" smtClean="0"/>
              <a:t>: </a:t>
            </a:r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큐에서 제거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00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4" y="1369938"/>
            <a:ext cx="930537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개의 기둥 </a:t>
            </a:r>
            <a:r>
              <a:rPr lang="en-US" altLang="ko-KR" dirty="0"/>
              <a:t>A, B, C</a:t>
            </a:r>
            <a:r>
              <a:rPr lang="ko-KR" altLang="en-US" dirty="0"/>
              <a:t>가 있고</a:t>
            </a:r>
            <a:r>
              <a:rPr lang="en-US" altLang="ko-KR" dirty="0"/>
              <a:t>, A</a:t>
            </a:r>
            <a:r>
              <a:rPr lang="ko-KR" altLang="en-US" dirty="0"/>
              <a:t>에 있는 </a:t>
            </a:r>
            <a:r>
              <a:rPr lang="en-US" altLang="ko-KR" dirty="0"/>
              <a:t>n</a:t>
            </a:r>
            <a:r>
              <a:rPr lang="ko-KR" altLang="en-US" dirty="0"/>
              <a:t>개의 무게가 다른 원판을 </a:t>
            </a:r>
            <a:r>
              <a:rPr lang="en-US" altLang="ko-KR" dirty="0"/>
              <a:t>C</a:t>
            </a:r>
            <a:r>
              <a:rPr lang="ko-KR" altLang="en-US" dirty="0"/>
              <a:t>로 옮기고 싶습니다</a:t>
            </a:r>
            <a:r>
              <a:rPr lang="en-US" altLang="ko-KR" dirty="0"/>
              <a:t>. </a:t>
            </a:r>
            <a:r>
              <a:rPr lang="ko-KR" altLang="en-US" dirty="0"/>
              <a:t>아래와 같은 규칙에 따라 원판을 이동시킬 수 있습니다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원판은 한 번에 한 개씩만 제일 위에 있는 원판만 이동할 수 있습니다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원판은 항상 무거운 것이 아래에 있어야 합니다</a:t>
            </a:r>
            <a:r>
              <a:rPr lang="en-US" altLang="ko-KR" dirty="0"/>
              <a:t>. (</a:t>
            </a:r>
            <a:r>
              <a:rPr lang="ko-KR" altLang="en-US" dirty="0"/>
              <a:t>시작 상태에서도 마찬가지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A</a:t>
            </a:r>
            <a:r>
              <a:rPr lang="ko-KR" altLang="en-US" dirty="0"/>
              <a:t>에서 </a:t>
            </a:r>
            <a:r>
              <a:rPr lang="en-US" altLang="ko-KR" dirty="0"/>
              <a:t>C</a:t>
            </a:r>
            <a:r>
              <a:rPr lang="ko-KR" altLang="en-US" dirty="0"/>
              <a:t>로 최소 횟수로 이동시킬 때</a:t>
            </a:r>
            <a:r>
              <a:rPr lang="en-US" altLang="ko-KR" dirty="0"/>
              <a:t>, </a:t>
            </a:r>
            <a:r>
              <a:rPr lang="ko-KR" altLang="en-US" dirty="0"/>
              <a:t>이동하는 방식을 출력하는 프로그램을 작성합니다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Ex&gt;</a:t>
            </a:r>
          </a:p>
          <a:p>
            <a:r>
              <a:rPr lang="en-US" altLang="ko-KR" dirty="0"/>
              <a:t>n = 2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3</a:t>
            </a:r>
            <a:r>
              <a:rPr lang="ko-KR" altLang="en-US" dirty="0"/>
              <a:t>번으로 </a:t>
            </a:r>
            <a:r>
              <a:rPr lang="en-US" altLang="ko-KR" dirty="0"/>
              <a:t>A</a:t>
            </a:r>
            <a:r>
              <a:rPr lang="ko-KR" altLang="en-US" dirty="0"/>
              <a:t>의 기둥을 </a:t>
            </a:r>
            <a:r>
              <a:rPr lang="en-US" altLang="ko-KR" dirty="0"/>
              <a:t>C</a:t>
            </a:r>
            <a:r>
              <a:rPr lang="ko-KR" altLang="en-US" dirty="0"/>
              <a:t>로 옮길 수 있습니다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n = 3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7</a:t>
            </a:r>
            <a:r>
              <a:rPr lang="ko-KR" altLang="en-US" dirty="0"/>
              <a:t>번으로 </a:t>
            </a:r>
            <a:r>
              <a:rPr lang="en-US" altLang="ko-KR" dirty="0"/>
              <a:t>A</a:t>
            </a:r>
            <a:r>
              <a:rPr lang="ko-KR" altLang="en-US" dirty="0"/>
              <a:t>의 기둥을 </a:t>
            </a:r>
            <a:r>
              <a:rPr lang="en-US" altLang="ko-KR" dirty="0"/>
              <a:t>C</a:t>
            </a:r>
            <a:r>
              <a:rPr lang="ko-KR" altLang="en-US" dirty="0"/>
              <a:t>로 옮길 수 있습니다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ko-KR" altLang="en-US" dirty="0"/>
              <a:t>힌트</a:t>
            </a:r>
            <a:r>
              <a:rPr lang="en-US" altLang="ko-KR" dirty="0"/>
              <a:t>: </a:t>
            </a:r>
            <a:r>
              <a:rPr lang="ko-KR" altLang="en-US" dirty="0"/>
              <a:t>재귀 함수를 이용합니다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11.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하노이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탑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8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77433"/>
            <a:ext cx="950842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재귀 함수의 정의</a:t>
            </a:r>
            <a:endParaRPr lang="en-US" altLang="ko-KR" dirty="0"/>
          </a:p>
          <a:p>
            <a:r>
              <a:rPr lang="en-US" altLang="ko-KR" dirty="0"/>
              <a:t>Hanoi(</a:t>
            </a:r>
            <a:r>
              <a:rPr lang="en-US" altLang="ko-KR" dirty="0" err="1"/>
              <a:t>A,B,C,n</a:t>
            </a:r>
            <a:r>
              <a:rPr lang="en-US" altLang="ko-KR" dirty="0"/>
              <a:t>) #n</a:t>
            </a:r>
            <a:r>
              <a:rPr lang="ko-KR" altLang="en-US" dirty="0"/>
              <a:t>개의 원판을 </a:t>
            </a:r>
            <a:r>
              <a:rPr lang="en-US" altLang="ko-KR" dirty="0"/>
              <a:t>A</a:t>
            </a:r>
            <a:r>
              <a:rPr lang="ko-KR" altLang="en-US" dirty="0"/>
              <a:t>에서 </a:t>
            </a:r>
            <a:r>
              <a:rPr lang="en-US" altLang="ko-KR" dirty="0"/>
              <a:t>B</a:t>
            </a:r>
            <a:r>
              <a:rPr lang="ko-KR" altLang="en-US" dirty="0"/>
              <a:t>를 이용해서 </a:t>
            </a:r>
            <a:r>
              <a:rPr lang="en-US" altLang="ko-KR" dirty="0"/>
              <a:t>C</a:t>
            </a:r>
            <a:r>
              <a:rPr lang="ko-KR" altLang="en-US" dirty="0"/>
              <a:t>로 이동하는 방식을 출력하는 함수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재귀 호출을 어떤 식으로 할 수 있을까요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종료 조건</a:t>
            </a:r>
            <a:r>
              <a:rPr lang="en-US" altLang="ko-KR" dirty="0"/>
              <a:t>: </a:t>
            </a:r>
            <a:r>
              <a:rPr lang="ko-KR" altLang="en-US" dirty="0"/>
              <a:t>가장 기본적인 수행</a:t>
            </a:r>
            <a:endParaRPr lang="en-US" altLang="ko-KR" dirty="0"/>
          </a:p>
          <a:p>
            <a:r>
              <a:rPr lang="en-US" altLang="ko-KR" dirty="0"/>
              <a:t>n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이라면</a:t>
            </a:r>
            <a:r>
              <a:rPr lang="en-US" altLang="ko-KR" dirty="0"/>
              <a:t>, A</a:t>
            </a:r>
            <a:r>
              <a:rPr lang="ko-KR" altLang="en-US" dirty="0"/>
              <a:t>에서 </a:t>
            </a:r>
            <a:r>
              <a:rPr lang="en-US" altLang="ko-KR" dirty="0"/>
              <a:t>C</a:t>
            </a:r>
            <a:r>
              <a:rPr lang="ko-KR" altLang="en-US" dirty="0"/>
              <a:t>로 옮기는 그 경우 뿐이므로</a:t>
            </a:r>
            <a:r>
              <a:rPr lang="en-US" altLang="ko-KR" dirty="0"/>
              <a:t>, A -&gt; C </a:t>
            </a:r>
            <a:r>
              <a:rPr lang="ko-KR" altLang="en-US" dirty="0"/>
              <a:t>를 출력</a:t>
            </a:r>
            <a:endParaRPr lang="en-US" altLang="ko-KR" dirty="0"/>
          </a:p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or</a:t>
            </a:r>
            <a:r>
              <a:rPr lang="en-US" altLang="ko-KR" dirty="0"/>
              <a:t> n</a:t>
            </a:r>
            <a:r>
              <a:rPr lang="ko-KR" altLang="en-US" dirty="0"/>
              <a:t>이 </a:t>
            </a:r>
            <a:r>
              <a:rPr lang="en-US" altLang="ko-KR" dirty="0"/>
              <a:t>0</a:t>
            </a:r>
            <a:r>
              <a:rPr lang="ko-KR" altLang="en-US" dirty="0"/>
              <a:t>이라면</a:t>
            </a:r>
            <a:r>
              <a:rPr lang="en-US" altLang="ko-KR" dirty="0"/>
              <a:t>, </a:t>
            </a:r>
            <a:r>
              <a:rPr lang="ko-KR" altLang="en-US" dirty="0"/>
              <a:t>원판이 없으므로 함수를 종료</a:t>
            </a:r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11.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하노이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탑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341492" y="2818151"/>
            <a:ext cx="45719" cy="24209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6073862" y="2818151"/>
            <a:ext cx="45719" cy="24209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8806232" y="2818151"/>
            <a:ext cx="45719" cy="24209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193737" y="523906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937062" y="523906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663821" y="523906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5" name="사다리꼴 34"/>
          <p:cNvSpPr/>
          <p:nvPr/>
        </p:nvSpPr>
        <p:spPr>
          <a:xfrm>
            <a:off x="2712279" y="4934716"/>
            <a:ext cx="1304144" cy="304346"/>
          </a:xfrm>
          <a:prstGeom prst="trapezoid">
            <a:avLst>
              <a:gd name="adj" fmla="val 327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</p:txBody>
      </p:sp>
      <p:sp>
        <p:nvSpPr>
          <p:cNvPr id="33" name="이등변 삼각형 32"/>
          <p:cNvSpPr/>
          <p:nvPr/>
        </p:nvSpPr>
        <p:spPr>
          <a:xfrm>
            <a:off x="2818912" y="3305331"/>
            <a:ext cx="1098888" cy="162938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n-1</a:t>
            </a:r>
          </a:p>
          <a:p>
            <a:pPr algn="ctr"/>
            <a:r>
              <a:rPr lang="ko-KR" altLang="en-US" dirty="0"/>
              <a:t>개</a:t>
            </a:r>
          </a:p>
        </p:txBody>
      </p:sp>
      <p:sp>
        <p:nvSpPr>
          <p:cNvPr id="36" name="이등변 삼각형 35"/>
          <p:cNvSpPr/>
          <p:nvPr/>
        </p:nvSpPr>
        <p:spPr>
          <a:xfrm>
            <a:off x="5547277" y="3609676"/>
            <a:ext cx="1098888" cy="162938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n-1</a:t>
            </a:r>
          </a:p>
          <a:p>
            <a:pPr algn="ctr"/>
            <a:r>
              <a:rPr lang="ko-KR" altLang="en-US" dirty="0"/>
              <a:t>개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7260539" y="2296647"/>
            <a:ext cx="1888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Hanoi(A,C,B,n-1)</a:t>
            </a:r>
            <a:endParaRPr lang="ko-KR" altLang="en-US" dirty="0"/>
          </a:p>
        </p:txBody>
      </p:sp>
      <p:sp>
        <p:nvSpPr>
          <p:cNvPr id="3" name="이등변 삼각형 2"/>
          <p:cNvSpPr/>
          <p:nvPr/>
        </p:nvSpPr>
        <p:spPr>
          <a:xfrm>
            <a:off x="2714567" y="3305331"/>
            <a:ext cx="1304144" cy="1933731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r>
              <a:rPr lang="ko-KR" altLang="en-US" dirty="0"/>
              <a:t>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7568" y="3454924"/>
            <a:ext cx="1888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Hanoi(A,C,B,n-1)</a:t>
            </a:r>
          </a:p>
          <a:p>
            <a:r>
              <a:rPr lang="en-US" altLang="ko-KR" dirty="0"/>
              <a:t>print(A,-&gt;,C)</a:t>
            </a:r>
          </a:p>
          <a:p>
            <a:r>
              <a:rPr lang="en-US" altLang="ko-KR" dirty="0"/>
              <a:t>Hanoi(B,A,C,n-1)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297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33333E-6 L 0.44857 3.33333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44444E-6 L 0.22474 0.04468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7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0.44753 3.33333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22396 -0.04421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98" y="-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3" grpId="0" animBg="1"/>
      <p:bldP spid="33" grpId="1" animBg="1"/>
      <p:bldP spid="33" grpId="2" animBg="1"/>
      <p:bldP spid="36" grpId="0" animBg="1"/>
      <p:bldP spid="36" grpId="1" animBg="1"/>
      <p:bldP spid="3" grpId="0" animBg="1"/>
      <p:bldP spid="3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37" y="1346729"/>
            <a:ext cx="10829925" cy="46386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>
                <a:solidFill>
                  <a:schemeClr val="accent1">
                    <a:lumMod val="75000"/>
                  </a:schemeClr>
                </a:solidFill>
              </a:rPr>
              <a:t>11. </a:t>
            </a:r>
            <a:r>
              <a:rPr lang="ko-KR" altLang="en-US" sz="3600" dirty="0" smtClean="0">
                <a:solidFill>
                  <a:schemeClr val="accent1">
                    <a:lumMod val="75000"/>
                  </a:schemeClr>
                </a:solidFill>
              </a:rPr>
              <a:t>하노이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</a:rPr>
              <a:t>탑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984505" y="2966560"/>
            <a:ext cx="9534164" cy="358532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n-1</a:t>
            </a:r>
            <a:r>
              <a:rPr lang="ko-KR" altLang="en-US" dirty="0"/>
              <a:t>개 고리를 </a:t>
            </a:r>
            <a:r>
              <a:rPr lang="en-US" altLang="ko-KR" dirty="0"/>
              <a:t>start</a:t>
            </a:r>
            <a:r>
              <a:rPr lang="ko-KR" altLang="en-US" dirty="0"/>
              <a:t>에서 </a:t>
            </a:r>
            <a:r>
              <a:rPr lang="en-US" altLang="ko-KR" dirty="0"/>
              <a:t>mid</a:t>
            </a:r>
            <a:r>
              <a:rPr lang="ko-KR" altLang="en-US" dirty="0"/>
              <a:t>로 옮김</a:t>
            </a:r>
            <a:endParaRPr lang="en-US" altLang="ko-KR" dirty="0"/>
          </a:p>
        </p:txBody>
      </p:sp>
      <p:sp>
        <p:nvSpPr>
          <p:cNvPr id="11" name="직사각형 10"/>
          <p:cNvSpPr/>
          <p:nvPr/>
        </p:nvSpPr>
        <p:spPr>
          <a:xfrm>
            <a:off x="1992816" y="3640975"/>
            <a:ext cx="9534164" cy="396543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mid</a:t>
            </a:r>
            <a:r>
              <a:rPr lang="ko-KR" altLang="en-US" dirty="0"/>
              <a:t>로 옮긴 </a:t>
            </a:r>
            <a:r>
              <a:rPr lang="en-US" altLang="ko-KR" dirty="0"/>
              <a:t>n-1</a:t>
            </a:r>
            <a:r>
              <a:rPr lang="ko-KR" altLang="en-US" dirty="0"/>
              <a:t>개 고리를 </a:t>
            </a:r>
            <a:r>
              <a:rPr lang="en-US" altLang="ko-KR" dirty="0"/>
              <a:t>end</a:t>
            </a:r>
            <a:r>
              <a:rPr lang="ko-KR" altLang="en-US" dirty="0"/>
              <a:t>로 옮김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1992816" y="2302866"/>
            <a:ext cx="9534164" cy="1878676"/>
          </a:xfrm>
          <a:prstGeom prst="rect">
            <a:avLst/>
          </a:prstGeom>
          <a:solidFill>
            <a:srgbClr val="282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옮길 고리가 없는 경우</a:t>
            </a:r>
            <a:r>
              <a:rPr lang="en-US" altLang="ko-KR" dirty="0" smtClean="0"/>
              <a:t>:</a:t>
            </a:r>
          </a:p>
          <a:p>
            <a:r>
              <a:rPr lang="en-US" altLang="ko-KR" dirty="0"/>
              <a:t>	</a:t>
            </a:r>
            <a:r>
              <a:rPr lang="ko-KR" altLang="en-US" dirty="0" smtClean="0"/>
              <a:t>함수 종료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n</a:t>
            </a:r>
            <a:r>
              <a:rPr lang="en-US" altLang="ko-KR" dirty="0" smtClean="0"/>
              <a:t>-1</a:t>
            </a:r>
            <a:r>
              <a:rPr lang="ko-KR" altLang="en-US" dirty="0" smtClean="0"/>
              <a:t>개 고리를 </a:t>
            </a:r>
            <a:r>
              <a:rPr lang="en-US" altLang="ko-KR" dirty="0" smtClean="0"/>
              <a:t>start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mid</a:t>
            </a:r>
            <a:r>
              <a:rPr lang="ko-KR" altLang="en-US" dirty="0" smtClean="0"/>
              <a:t>로 옮김</a:t>
            </a:r>
            <a:endParaRPr lang="en-US" altLang="ko-KR" dirty="0" smtClean="0"/>
          </a:p>
          <a:p>
            <a:r>
              <a:rPr lang="ko-KR" altLang="en-US" dirty="0" smtClean="0"/>
              <a:t>남은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개를 </a:t>
            </a:r>
            <a:r>
              <a:rPr lang="en-US" altLang="ko-KR" dirty="0" smtClean="0"/>
              <a:t>start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end</a:t>
            </a:r>
            <a:r>
              <a:rPr lang="ko-KR" altLang="en-US" dirty="0" smtClean="0"/>
              <a:t>로 옮김</a:t>
            </a:r>
            <a:endParaRPr lang="en-US" altLang="ko-KR" dirty="0" smtClean="0"/>
          </a:p>
          <a:p>
            <a:r>
              <a:rPr lang="en-US" altLang="ko-KR" dirty="0"/>
              <a:t>m</a:t>
            </a:r>
            <a:r>
              <a:rPr lang="en-US" altLang="ko-KR" dirty="0" smtClean="0"/>
              <a:t>id</a:t>
            </a:r>
            <a:r>
              <a:rPr lang="ko-KR" altLang="en-US" dirty="0" smtClean="0"/>
              <a:t>로 옮긴 </a:t>
            </a:r>
            <a:r>
              <a:rPr lang="en-US" altLang="ko-KR" dirty="0" smtClean="0"/>
              <a:t>n-1</a:t>
            </a:r>
            <a:r>
              <a:rPr lang="ko-KR" altLang="en-US" dirty="0" smtClean="0"/>
              <a:t>개 고리를 </a:t>
            </a:r>
            <a:r>
              <a:rPr lang="en-US" altLang="ko-KR" dirty="0" smtClean="0"/>
              <a:t>end</a:t>
            </a:r>
            <a:r>
              <a:rPr lang="ko-KR" altLang="en-US" dirty="0" smtClean="0"/>
              <a:t>로 옮김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9478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7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2903</TotalTime>
  <Words>2306</Words>
  <Application>Microsoft Office PowerPoint</Application>
  <PresentationFormat>와이드스크린</PresentationFormat>
  <Paragraphs>534</Paragraphs>
  <Slides>54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이승준(수학과)</dc:creator>
  <cp:lastModifiedBy>GA</cp:lastModifiedBy>
  <cp:revision>111</cp:revision>
  <dcterms:created xsi:type="dcterms:W3CDTF">2018-03-12T02:24:53Z</dcterms:created>
  <dcterms:modified xsi:type="dcterms:W3CDTF">2020-08-06T09:01:51Z</dcterms:modified>
</cp:coreProperties>
</file>